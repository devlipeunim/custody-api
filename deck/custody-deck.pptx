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Evidence goes onto a flash drive, gets emailed, sits on a shared machine, and arrives at a hearing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university panel explicitly. The room has sat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hashes on this slide. Words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metaphor is the one they will remember. Use it twice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Do not walk through every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 to work through power and network cuts is answered by the architecture, not by a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The honesty is worth more than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Follow DEMO.md.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this slide with a photograph of the printed report in someone's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this in with the real result. Do not invent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confidently, not apologetically.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1</a:t>
            </a:r>
            <a:endParaRPr lang="en-US" sz="1000" dirty="0"/>
          </a:p>
        </p:txBody>
      </p:sp>
      <p:sp>
        <p:nvSpPr>
          <p:cNvPr id="4" name="Text 1"/>
          <p:cNvSpPr txBox="1"/>
          <p:nvPr/>
        </p:nvSpPr>
        <p:spPr>
          <a:xfrm>
            <a:off x="640080" y="1417320"/>
            <a:ext cx="7863840" cy="914400"/>
          </a:xfrm>
          <a:prstGeom prst="rect">
            <a:avLst/>
          </a:prstGeom>
          <a:noFill/>
          <a:ln/>
        </p:spPr>
        <p:txBody>
          <a:bodyPr wrap="square" lIns="0" tIns="0" rIns="0" bIns="0" rtlCol="0" anchor="ctr"/>
          <a:lstStyle/>
          <a:p>
            <a:pPr indent="0" marL="0">
              <a:buNone/>
            </a:pPr>
            <a:r>
              <a:rPr lang="en-US" sz="5400" b="1" dirty="0">
                <a:solidFill>
                  <a:srgbClr val="16160F"/>
                </a:solidFill>
                <a:latin typeface="Times New Roman" pitchFamily="34" charset="0"/>
                <a:ea typeface="Times New Roman" pitchFamily="34" charset="-122"/>
                <a:cs typeface="Times New Roman" pitchFamily="34" charset="-120"/>
              </a:rPr>
              <a:t>Custody</a:t>
            </a:r>
            <a:endParaRPr lang="en-US" sz="5400" dirty="0"/>
          </a:p>
        </p:txBody>
      </p:sp>
      <p:sp>
        <p:nvSpPr>
          <p:cNvPr id="5" name="Text 2"/>
          <p:cNvSpPr txBox="1"/>
          <p:nvPr/>
        </p:nvSpPr>
        <p:spPr>
          <a:xfrm>
            <a:off x="640080" y="2377440"/>
            <a:ext cx="7863840" cy="457200"/>
          </a:xfrm>
          <a:prstGeom prst="rect">
            <a:avLst/>
          </a:prstGeom>
          <a:noFill/>
          <a:ln/>
        </p:spPr>
        <p:txBody>
          <a:bodyPr wrap="square" lIns="0" tIns="0" rIns="0" bIns="0" rtlCol="0" anchor="ctr"/>
          <a:lstStyle/>
          <a:p>
            <a:pPr indent="0" marL="0">
              <a:buNone/>
            </a:pPr>
            <a:r>
              <a:rPr lang="en-US" sz="2000" dirty="0">
                <a:solidFill>
                  <a:srgbClr val="16160F"/>
                </a:solidFill>
                <a:latin typeface="Times New Roman" pitchFamily="34" charset="0"/>
                <a:ea typeface="Times New Roman" pitchFamily="34" charset="-122"/>
                <a:cs typeface="Times New Roman" pitchFamily="34" charset="-120"/>
              </a:rPr>
              <a:t>Proving digital evidence has not been changed</a:t>
            </a:r>
            <a:endParaRPr lang="en-US" sz="2000" dirty="0"/>
          </a:p>
        </p:txBody>
      </p:sp>
      <p:sp>
        <p:nvSpPr>
          <p:cNvPr id="6" name="Text 3"/>
          <p:cNvSpPr txBox="1"/>
          <p:nvPr/>
        </p:nvSpPr>
        <p:spPr>
          <a:xfrm>
            <a:off x="640080" y="3803904"/>
            <a:ext cx="7863840" cy="27432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ICSC 2026 Universities Hackathon, Track H</a:t>
            </a:r>
            <a:endParaRPr lang="en-US" sz="1200" dirty="0"/>
          </a:p>
        </p:txBody>
      </p:sp>
      <p:sp>
        <p:nvSpPr>
          <p:cNvPr id="7" name="Text 4"/>
          <p:cNvSpPr txBox="1"/>
          <p:nvPr/>
        </p:nvSpPr>
        <p:spPr>
          <a:xfrm>
            <a:off x="640080" y="4069080"/>
            <a:ext cx="7863840" cy="27432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[Team name], five members, University of Ibadan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The problem</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2</a:t>
            </a:r>
            <a:endParaRPr lang="en-US" sz="1000" dirty="0"/>
          </a:p>
        </p:txBody>
      </p:sp>
      <p:sp>
        <p:nvSpPr>
          <p:cNvPr id="5" name="Text 2"/>
          <p:cNvSpPr txBox="1"/>
          <p:nvPr/>
        </p:nvSpPr>
        <p:spPr>
          <a:xfrm>
            <a:off x="640080" y="1051560"/>
            <a:ext cx="7863840" cy="1280160"/>
          </a:xfrm>
          <a:prstGeom prst="rect">
            <a:avLst/>
          </a:prstGeom>
          <a:noFill/>
          <a:ln/>
        </p:spPr>
        <p:txBody>
          <a:bodyPr wrap="square" lIns="0" tIns="0" rIns="0" bIns="0" rtlCol="0" anchor="t"/>
          <a:lstStyle/>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Cases collapse because nobody can prove</a:t>
            </a:r>
            <a:endParaRPr lang="en-US" sz="2800" dirty="0"/>
          </a:p>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the evidence was not changed.</a:t>
            </a:r>
            <a:endParaRPr lang="en-US" sz="2800" dirty="0"/>
          </a:p>
        </p:txBody>
      </p:sp>
      <p:sp>
        <p:nvSpPr>
          <p:cNvPr id="6" name="Text 3"/>
          <p:cNvSpPr txBox="1"/>
          <p:nvPr/>
        </p:nvSpPr>
        <p:spPr>
          <a:xfrm>
            <a:off x="640080" y="2395728"/>
            <a:ext cx="7863840" cy="822960"/>
          </a:xfrm>
          <a:prstGeom prst="rect">
            <a:avLst/>
          </a:prstGeom>
          <a:noFill/>
          <a:ln/>
        </p:spPr>
        <p:txBody>
          <a:bodyPr wrap="square" lIns="0" tIns="0" rIns="0" bIns="0" rtlCol="0" anchor="t"/>
          <a:lstStyle/>
          <a:p>
            <a:pPr indent="0" marL="0">
              <a:lnSpc>
                <a:spcPct val="125000"/>
              </a:lnSpc>
              <a:buNone/>
            </a:pPr>
            <a:r>
              <a:rPr lang="en-US" sz="1900" dirty="0">
                <a:solidFill>
                  <a:srgbClr val="16160F"/>
                </a:solidFill>
                <a:latin typeface="Times New Roman" pitchFamily="34" charset="0"/>
                <a:ea typeface="Times New Roman" pitchFamily="34" charset="-122"/>
                <a:cs typeface="Times New Roman" pitchFamily="34" charset="-120"/>
              </a:rPr>
              <a:t>Not because anyone changed it.</a:t>
            </a:r>
            <a:endParaRPr lang="en-US" sz="1900" dirty="0"/>
          </a:p>
        </p:txBody>
      </p:sp>
      <p:sp>
        <p:nvSpPr>
          <p:cNvPr id="7" name="Text 4"/>
          <p:cNvSpPr txBox="1"/>
          <p:nvPr/>
        </p:nvSpPr>
        <p:spPr>
          <a:xfrm>
            <a:off x="640080" y="3154680"/>
            <a:ext cx="7863840" cy="1005840"/>
          </a:xfrm>
          <a:prstGeom prst="rect">
            <a:avLst/>
          </a:prstGeom>
          <a:noFill/>
          <a:ln/>
        </p:spPr>
        <p:txBody>
          <a:bodyPr wrap="square" lIns="0" tIns="0" rIns="0" bIns="0" rtlCol="0" anchor="t"/>
          <a:lstStyle/>
          <a:p>
            <a:pPr indent="0" marL="0">
              <a:lnSpc>
                <a:spcPct val="125000"/>
              </a:lnSpc>
              <a:buNone/>
            </a:pPr>
            <a:r>
              <a:rPr lang="en-US" sz="1200" i="1" dirty="0">
                <a:solidFill>
                  <a:srgbClr val="6B6B60"/>
                </a:solidFill>
                <a:latin typeface="Times New Roman" pitchFamily="34" charset="0"/>
                <a:ea typeface="Times New Roman" pitchFamily="34" charset="-122"/>
                <a:cs typeface="Times New Roman" pitchFamily="34" charset="-120"/>
              </a:rPr>
              <a:t>Evidence goes onto a flash drive, gets emailed between officers, sits on a shared machine, and arrives at a hearing a year later. Maybe nobody touched it. Nobody can prove that either.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Where this happens</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3</a:t>
            </a:r>
            <a:endParaRPr lang="en-US" sz="1000" dirty="0"/>
          </a:p>
        </p:txBody>
      </p:sp>
      <p:sp>
        <p:nvSpPr>
          <p:cNvPr id="5" name="Text 2"/>
          <p:cNvSpPr txBox="1"/>
          <p:nvPr/>
        </p:nvSpPr>
        <p:spPr>
          <a:xfrm>
            <a:off x="640080" y="868680"/>
            <a:ext cx="7863840" cy="548640"/>
          </a:xfrm>
          <a:prstGeom prst="rect">
            <a:avLst/>
          </a:prstGeom>
          <a:noFill/>
          <a:ln/>
        </p:spPr>
        <p:txBody>
          <a:bodyPr wrap="square" lIns="0" tIns="0" rIns="0" bIns="0" rtlCol="0" anchor="t"/>
          <a:lstStyle/>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Three settings</a:t>
            </a:r>
            <a:endParaRPr lang="en-US" sz="2800" dirty="0"/>
          </a:p>
        </p:txBody>
      </p:sp>
      <p:sp>
        <p:nvSpPr>
          <p:cNvPr id="6" name="Text 3"/>
          <p:cNvSpPr txBox="1"/>
          <p:nvPr/>
        </p:nvSpPr>
        <p:spPr>
          <a:xfrm>
            <a:off x="640080" y="1691640"/>
            <a:ext cx="3108960" cy="365760"/>
          </a:xfrm>
          <a:prstGeom prst="rect">
            <a:avLst/>
          </a:prstGeom>
          <a:noFill/>
          <a:ln/>
        </p:spPr>
        <p:txBody>
          <a:bodyPr wrap="square" lIns="0" tIns="0" rIns="0" bIns="0" rtlCol="0" anchor="ctr"/>
          <a:lstStyle/>
          <a:p>
            <a:pPr indent="0" marL="0">
              <a:buNone/>
            </a:pPr>
            <a:r>
              <a:rPr lang="en-US" sz="1900" b="1" dirty="0">
                <a:solidFill>
                  <a:srgbClr val="16160F"/>
                </a:solidFill>
                <a:latin typeface="Times New Roman" pitchFamily="34" charset="0"/>
                <a:ea typeface="Times New Roman" pitchFamily="34" charset="-122"/>
                <a:cs typeface="Times New Roman" pitchFamily="34" charset="-120"/>
              </a:rPr>
              <a:t>Cybercrime cases</a:t>
            </a:r>
            <a:endParaRPr lang="en-US" sz="1900" dirty="0"/>
          </a:p>
        </p:txBody>
      </p:sp>
      <p:sp>
        <p:nvSpPr>
          <p:cNvPr id="7" name="Text 4"/>
          <p:cNvSpPr txBox="1"/>
          <p:nvPr/>
        </p:nvSpPr>
        <p:spPr>
          <a:xfrm>
            <a:off x="3840480" y="1746504"/>
            <a:ext cx="4663440" cy="365760"/>
          </a:xfrm>
          <a:prstGeom prst="rect">
            <a:avLst/>
          </a:prstGeom>
          <a:noFill/>
          <a:ln/>
        </p:spPr>
        <p:txBody>
          <a:bodyPr wrap="square" lIns="0" tIns="0" rIns="0" bIns="0" rtlCol="0" anchor="ctr"/>
          <a:lstStyle/>
          <a:p>
            <a:pPr indent="0" marL="0">
              <a:buNone/>
            </a:pPr>
            <a:r>
              <a:rPr lang="en-US" sz="1300" dirty="0">
                <a:solidFill>
                  <a:srgbClr val="6B6B60"/>
                </a:solidFill>
                <a:latin typeface="Times New Roman" pitchFamily="34" charset="0"/>
                <a:ea typeface="Times New Roman" pitchFamily="34" charset="-122"/>
                <a:cs typeface="Times New Roman" pitchFamily="34" charset="-120"/>
              </a:rPr>
              <a:t>phone extractions, server logs</a:t>
            </a:r>
            <a:endParaRPr lang="en-US" sz="1300" dirty="0"/>
          </a:p>
        </p:txBody>
      </p:sp>
      <p:sp>
        <p:nvSpPr>
          <p:cNvPr id="8" name="Text 5"/>
          <p:cNvSpPr txBox="1"/>
          <p:nvPr/>
        </p:nvSpPr>
        <p:spPr>
          <a:xfrm>
            <a:off x="640080" y="2258568"/>
            <a:ext cx="3108960" cy="365760"/>
          </a:xfrm>
          <a:prstGeom prst="rect">
            <a:avLst/>
          </a:prstGeom>
          <a:noFill/>
          <a:ln/>
        </p:spPr>
        <p:txBody>
          <a:bodyPr wrap="square" lIns="0" tIns="0" rIns="0" bIns="0" rtlCol="0" anchor="ctr"/>
          <a:lstStyle/>
          <a:p>
            <a:pPr indent="0" marL="0">
              <a:buNone/>
            </a:pPr>
            <a:r>
              <a:rPr lang="en-US" sz="1900" b="1" dirty="0">
                <a:solidFill>
                  <a:srgbClr val="16160F"/>
                </a:solidFill>
                <a:latin typeface="Times New Roman" pitchFamily="34" charset="0"/>
                <a:ea typeface="Times New Roman" pitchFamily="34" charset="-122"/>
                <a:cs typeface="Times New Roman" pitchFamily="34" charset="-120"/>
              </a:rPr>
              <a:t>Fraud investigations</a:t>
            </a:r>
            <a:endParaRPr lang="en-US" sz="1900" dirty="0"/>
          </a:p>
        </p:txBody>
      </p:sp>
      <p:sp>
        <p:nvSpPr>
          <p:cNvPr id="9" name="Text 6"/>
          <p:cNvSpPr txBox="1"/>
          <p:nvPr/>
        </p:nvSpPr>
        <p:spPr>
          <a:xfrm>
            <a:off x="3840480" y="2313432"/>
            <a:ext cx="4663440" cy="365760"/>
          </a:xfrm>
          <a:prstGeom prst="rect">
            <a:avLst/>
          </a:prstGeom>
          <a:noFill/>
          <a:ln/>
        </p:spPr>
        <p:txBody>
          <a:bodyPr wrap="square" lIns="0" tIns="0" rIns="0" bIns="0" rtlCol="0" anchor="ctr"/>
          <a:lstStyle/>
          <a:p>
            <a:pPr indent="0" marL="0">
              <a:buNone/>
            </a:pPr>
            <a:r>
              <a:rPr lang="en-US" sz="1300" dirty="0">
                <a:solidFill>
                  <a:srgbClr val="6B6B60"/>
                </a:solidFill>
                <a:latin typeface="Times New Roman" pitchFamily="34" charset="0"/>
                <a:ea typeface="Times New Roman" pitchFamily="34" charset="-122"/>
                <a:cs typeface="Times New Roman" pitchFamily="34" charset="-120"/>
              </a:rPr>
              <a:t>transaction records, audit logs</a:t>
            </a:r>
            <a:endParaRPr lang="en-US" sz="1300" dirty="0"/>
          </a:p>
        </p:txBody>
      </p:sp>
      <p:sp>
        <p:nvSpPr>
          <p:cNvPr id="10" name="Text 7"/>
          <p:cNvSpPr txBox="1"/>
          <p:nvPr/>
        </p:nvSpPr>
        <p:spPr>
          <a:xfrm>
            <a:off x="640080" y="2825496"/>
            <a:ext cx="3108960" cy="365760"/>
          </a:xfrm>
          <a:prstGeom prst="rect">
            <a:avLst/>
          </a:prstGeom>
          <a:noFill/>
          <a:ln/>
        </p:spPr>
        <p:txBody>
          <a:bodyPr wrap="square" lIns="0" tIns="0" rIns="0" bIns="0" rtlCol="0" anchor="ctr"/>
          <a:lstStyle/>
          <a:p>
            <a:pPr indent="0" marL="0">
              <a:buNone/>
            </a:pPr>
            <a:r>
              <a:rPr lang="en-US" sz="1900" b="1" dirty="0">
                <a:solidFill>
                  <a:srgbClr val="16160F"/>
                </a:solidFill>
                <a:latin typeface="Times New Roman" pitchFamily="34" charset="0"/>
                <a:ea typeface="Times New Roman" pitchFamily="34" charset="-122"/>
                <a:cs typeface="Times New Roman" pitchFamily="34" charset="-120"/>
              </a:rPr>
              <a:t>Disciplinary panels</a:t>
            </a:r>
            <a:endParaRPr lang="en-US" sz="1900" dirty="0"/>
          </a:p>
        </p:txBody>
      </p:sp>
      <p:sp>
        <p:nvSpPr>
          <p:cNvPr id="11" name="Text 8"/>
          <p:cNvSpPr txBox="1"/>
          <p:nvPr/>
        </p:nvSpPr>
        <p:spPr>
          <a:xfrm>
            <a:off x="3840480" y="2880360"/>
            <a:ext cx="4663440" cy="365760"/>
          </a:xfrm>
          <a:prstGeom prst="rect">
            <a:avLst/>
          </a:prstGeom>
          <a:noFill/>
          <a:ln/>
        </p:spPr>
        <p:txBody>
          <a:bodyPr wrap="square" lIns="0" tIns="0" rIns="0" bIns="0" rtlCol="0" anchor="ctr"/>
          <a:lstStyle/>
          <a:p>
            <a:pPr indent="0" marL="0">
              <a:buNone/>
            </a:pPr>
            <a:r>
              <a:rPr lang="en-US" sz="1300" dirty="0">
                <a:solidFill>
                  <a:srgbClr val="6B6B60"/>
                </a:solidFill>
                <a:latin typeface="Times New Roman" pitchFamily="34" charset="0"/>
                <a:ea typeface="Times New Roman" pitchFamily="34" charset="-122"/>
                <a:cs typeface="Times New Roman" pitchFamily="34" charset="-120"/>
              </a:rPr>
              <a:t>message exports, access logs</a:t>
            </a:r>
            <a:endParaRPr lang="en-US" sz="1300" dirty="0"/>
          </a:p>
        </p:txBody>
      </p:sp>
      <p:sp>
        <p:nvSpPr>
          <p:cNvPr id="12" name="Text 9"/>
          <p:cNvSpPr txBox="1"/>
          <p:nvPr/>
        </p:nvSpPr>
        <p:spPr>
          <a:xfrm>
            <a:off x="640080" y="3749040"/>
            <a:ext cx="7863840" cy="822960"/>
          </a:xfrm>
          <a:prstGeom prst="rect">
            <a:avLst/>
          </a:prstGeom>
          <a:noFill/>
          <a:ln/>
        </p:spPr>
        <p:txBody>
          <a:bodyPr wrap="square" lIns="0" tIns="0" rIns="0" bIns="0" rtlCol="0" anchor="t"/>
          <a:lstStyle/>
          <a:p>
            <a:pPr indent="0" marL="0">
              <a:lnSpc>
                <a:spcPct val="125000"/>
              </a:lnSpc>
              <a:buNone/>
            </a:pPr>
            <a:r>
              <a:rPr lang="en-US" sz="1500" dirty="0">
                <a:solidFill>
                  <a:srgbClr val="16160F"/>
                </a:solidFill>
                <a:latin typeface="Times New Roman" pitchFamily="34" charset="0"/>
                <a:ea typeface="Times New Roman" pitchFamily="34" charset="-122"/>
                <a:cs typeface="Times New Roman" pitchFamily="34" charset="-120"/>
              </a:rPr>
              <a:t>In each one, the handling record is on paper, if it exists at all.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The idea</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4</a:t>
            </a:r>
            <a:endParaRPr lang="en-US" sz="1000" dirty="0"/>
          </a:p>
        </p:txBody>
      </p:sp>
      <p:sp>
        <p:nvSpPr>
          <p:cNvPr id="5" name="Text 2"/>
          <p:cNvSpPr txBox="1"/>
          <p:nvPr/>
        </p:nvSpPr>
        <p:spPr>
          <a:xfrm>
            <a:off x="640080" y="960120"/>
            <a:ext cx="7863840" cy="1234440"/>
          </a:xfrm>
          <a:prstGeom prst="rect">
            <a:avLst/>
          </a:prstGeom>
          <a:noFill/>
          <a:ln/>
        </p:spPr>
        <p:txBody>
          <a:bodyPr wrap="square" lIns="0" tIns="0" rIns="0" bIns="0" rtlCol="0" anchor="t"/>
          <a:lstStyle/>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A computer can read a file and produce</a:t>
            </a:r>
            <a:endParaRPr lang="en-US" sz="2700" dirty="0"/>
          </a:p>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a short code from its contents.</a:t>
            </a:r>
            <a:endParaRPr lang="en-US" sz="2700" dirty="0"/>
          </a:p>
        </p:txBody>
      </p:sp>
      <p:sp>
        <p:nvSpPr>
          <p:cNvPr id="6" name="Text 3"/>
          <p:cNvSpPr txBox="1"/>
          <p:nvPr/>
        </p:nvSpPr>
        <p:spPr>
          <a:xfrm>
            <a:off x="640080" y="2286000"/>
            <a:ext cx="7863840" cy="822960"/>
          </a:xfrm>
          <a:prstGeom prst="rect">
            <a:avLst/>
          </a:prstGeom>
          <a:noFill/>
          <a:ln/>
        </p:spPr>
        <p:txBody>
          <a:bodyPr wrap="square" lIns="0" tIns="0" rIns="0" bIns="0" rtlCol="0" anchor="t"/>
          <a:lstStyle/>
          <a:p>
            <a:pPr indent="0" marL="0">
              <a:lnSpc>
                <a:spcPct val="125000"/>
              </a:lnSpc>
              <a:buNone/>
            </a:pPr>
            <a:r>
              <a:rPr lang="en-US" sz="1900" dirty="0">
                <a:solidFill>
                  <a:srgbClr val="16160F"/>
                </a:solidFill>
                <a:latin typeface="Times New Roman" pitchFamily="34" charset="0"/>
                <a:ea typeface="Times New Roman" pitchFamily="34" charset="-122"/>
                <a:cs typeface="Times New Roman" pitchFamily="34" charset="-120"/>
              </a:rPr>
              <a:t>Same file, same code, every time.</a:t>
            </a:r>
            <a:endParaRPr lang="en-US" sz="1900" dirty="0"/>
          </a:p>
        </p:txBody>
      </p:sp>
      <p:sp>
        <p:nvSpPr>
          <p:cNvPr id="7" name="Text 4"/>
          <p:cNvSpPr txBox="1"/>
          <p:nvPr/>
        </p:nvSpPr>
        <p:spPr>
          <a:xfrm>
            <a:off x="640080" y="2743200"/>
            <a:ext cx="7863840" cy="731520"/>
          </a:xfrm>
          <a:prstGeom prst="rect">
            <a:avLst/>
          </a:prstGeom>
          <a:noFill/>
          <a:ln/>
        </p:spPr>
        <p:txBody>
          <a:bodyPr wrap="square" lIns="0" tIns="0" rIns="0" bIns="0" rtlCol="0" anchor="t"/>
          <a:lstStyle/>
          <a:p>
            <a:pPr indent="0" marL="0">
              <a:lnSpc>
                <a:spcPct val="125000"/>
              </a:lnSpc>
              <a:buNone/>
            </a:pPr>
            <a:r>
              <a:rPr lang="en-US" sz="1900" dirty="0">
                <a:solidFill>
                  <a:srgbClr val="16160F"/>
                </a:solidFill>
                <a:latin typeface="Times New Roman" pitchFamily="34" charset="0"/>
                <a:ea typeface="Times New Roman" pitchFamily="34" charset="-122"/>
                <a:cs typeface="Times New Roman" pitchFamily="34" charset="-120"/>
              </a:rPr>
              <a:t>Change one letter anywhere inside, and the code comes out</a:t>
            </a:r>
            <a:endParaRPr lang="en-US" sz="1900" dirty="0"/>
          </a:p>
          <a:p>
            <a:pPr indent="0" marL="0">
              <a:lnSpc>
                <a:spcPct val="125000"/>
              </a:lnSpc>
              <a:buNone/>
            </a:pPr>
            <a:r>
              <a:rPr lang="en-US" sz="1900" dirty="0">
                <a:solidFill>
                  <a:srgbClr val="16160F"/>
                </a:solidFill>
                <a:latin typeface="Times New Roman" pitchFamily="34" charset="0"/>
                <a:ea typeface="Times New Roman" pitchFamily="34" charset="-122"/>
                <a:cs typeface="Times New Roman" pitchFamily="34" charset="-120"/>
              </a:rPr>
              <a:t>completely different.</a:t>
            </a:r>
            <a:endParaRPr lang="en-US" sz="1900" dirty="0"/>
          </a:p>
        </p:txBody>
      </p:sp>
      <p:sp>
        <p:nvSpPr>
          <p:cNvPr id="8" name="Text 5"/>
          <p:cNvSpPr txBox="1"/>
          <p:nvPr/>
        </p:nvSpPr>
        <p:spPr>
          <a:xfrm>
            <a:off x="640080" y="3822192"/>
            <a:ext cx="7863840" cy="822960"/>
          </a:xfrm>
          <a:prstGeom prst="rect">
            <a:avLst/>
          </a:prstGeom>
          <a:noFill/>
          <a:ln/>
        </p:spPr>
        <p:txBody>
          <a:bodyPr wrap="square" lIns="0" tIns="0" rIns="0" bIns="0" rtlCol="0" anchor="t"/>
          <a:lstStyle/>
          <a:p>
            <a:pPr indent="0" marL="0">
              <a:lnSpc>
                <a:spcPct val="125000"/>
              </a:lnSpc>
              <a:buNone/>
            </a:pPr>
            <a:r>
              <a:rPr lang="en-US" sz="1200" i="1" dirty="0">
                <a:solidFill>
                  <a:srgbClr val="6B6B60"/>
                </a:solidFill>
                <a:latin typeface="Times New Roman" pitchFamily="34" charset="0"/>
                <a:ea typeface="Times New Roman" pitchFamily="34" charset="-122"/>
                <a:cs typeface="Times New Roman" pitchFamily="34" charset="-120"/>
              </a:rPr>
              <a:t>The code is taken at the scene, on the collecting officer's own phone, before the file goes anywhere else. It is taken again months later and compared. Match means untouched.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The idea, part two</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5</a:t>
            </a:r>
            <a:endParaRPr lang="en-US" sz="1000" dirty="0"/>
          </a:p>
        </p:txBody>
      </p:sp>
      <p:sp>
        <p:nvSpPr>
          <p:cNvPr id="5" name="Text 2"/>
          <p:cNvSpPr txBox="1"/>
          <p:nvPr/>
        </p:nvSpPr>
        <p:spPr>
          <a:xfrm>
            <a:off x="640080" y="914400"/>
            <a:ext cx="7863840" cy="1188720"/>
          </a:xfrm>
          <a:prstGeom prst="rect">
            <a:avLst/>
          </a:prstGeom>
          <a:noFill/>
          <a:ln/>
        </p:spPr>
        <p:txBody>
          <a:bodyPr wrap="square" lIns="0" tIns="0" rIns="0" bIns="0" rtlCol="0" anchor="t"/>
          <a:lstStyle/>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Every entry is knotted to the one before it,</a:t>
            </a:r>
            <a:endParaRPr lang="en-US" sz="2700" dirty="0"/>
          </a:p>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like beads on a string.</a:t>
            </a:r>
            <a:endParaRPr lang="en-US" sz="2700" dirty="0"/>
          </a:p>
        </p:txBody>
      </p:sp>
      <p:sp>
        <p:nvSpPr>
          <p:cNvPr id="6" name="Shape 3"/>
          <p:cNvSpPr/>
          <p:nvPr/>
        </p:nvSpPr>
        <p:spPr>
          <a:xfrm>
            <a:off x="1088136" y="2962656"/>
            <a:ext cx="822960" cy="0"/>
          </a:xfrm>
          <a:prstGeom prst="line">
            <a:avLst/>
          </a:prstGeom>
          <a:noFill/>
          <a:ln w="28575">
            <a:solidFill>
              <a:srgbClr val="16160F"/>
            </a:solidFill>
            <a:prstDash val="solid"/>
          </a:ln>
        </p:spPr>
      </p:sp>
      <p:sp>
        <p:nvSpPr>
          <p:cNvPr id="7" name="Shape 4"/>
          <p:cNvSpPr/>
          <p:nvPr/>
        </p:nvSpPr>
        <p:spPr>
          <a:xfrm>
            <a:off x="914400" y="2788920"/>
            <a:ext cx="347472" cy="347472"/>
          </a:xfrm>
          <a:prstGeom prst="ellipse">
            <a:avLst/>
          </a:prstGeom>
          <a:solidFill>
            <a:srgbClr val="FBFBF8"/>
          </a:solidFill>
          <a:ln w="28575">
            <a:solidFill>
              <a:srgbClr val="16160F"/>
            </a:solidFill>
            <a:prstDash val="solid"/>
          </a:ln>
        </p:spPr>
      </p:sp>
      <p:sp>
        <p:nvSpPr>
          <p:cNvPr id="8" name="Shape 5"/>
          <p:cNvSpPr/>
          <p:nvPr/>
        </p:nvSpPr>
        <p:spPr>
          <a:xfrm>
            <a:off x="2258568" y="2962656"/>
            <a:ext cx="822960" cy="0"/>
          </a:xfrm>
          <a:prstGeom prst="line">
            <a:avLst/>
          </a:prstGeom>
          <a:noFill/>
          <a:ln w="28575">
            <a:solidFill>
              <a:srgbClr val="16160F"/>
            </a:solidFill>
            <a:prstDash val="solid"/>
          </a:ln>
        </p:spPr>
      </p:sp>
      <p:sp>
        <p:nvSpPr>
          <p:cNvPr id="9" name="Shape 6"/>
          <p:cNvSpPr/>
          <p:nvPr/>
        </p:nvSpPr>
        <p:spPr>
          <a:xfrm>
            <a:off x="2084832" y="2788920"/>
            <a:ext cx="347472" cy="347472"/>
          </a:xfrm>
          <a:prstGeom prst="ellipse">
            <a:avLst/>
          </a:prstGeom>
          <a:solidFill>
            <a:srgbClr val="FBFBF8"/>
          </a:solidFill>
          <a:ln w="28575">
            <a:solidFill>
              <a:srgbClr val="16160F"/>
            </a:solidFill>
            <a:prstDash val="solid"/>
          </a:ln>
        </p:spPr>
      </p:sp>
      <p:sp>
        <p:nvSpPr>
          <p:cNvPr id="10" name="Shape 7"/>
          <p:cNvSpPr/>
          <p:nvPr/>
        </p:nvSpPr>
        <p:spPr>
          <a:xfrm>
            <a:off x="3429000" y="2962656"/>
            <a:ext cx="822960" cy="0"/>
          </a:xfrm>
          <a:prstGeom prst="line">
            <a:avLst/>
          </a:prstGeom>
          <a:noFill/>
          <a:ln w="25400">
            <a:solidFill>
              <a:srgbClr val="B42318"/>
            </a:solidFill>
            <a:prstDash val="dash"/>
          </a:ln>
        </p:spPr>
      </p:sp>
      <p:sp>
        <p:nvSpPr>
          <p:cNvPr id="11" name="Shape 8"/>
          <p:cNvSpPr/>
          <p:nvPr/>
        </p:nvSpPr>
        <p:spPr>
          <a:xfrm>
            <a:off x="3255264" y="2788920"/>
            <a:ext cx="347472" cy="347472"/>
          </a:xfrm>
          <a:prstGeom prst="ellipse">
            <a:avLst/>
          </a:prstGeom>
          <a:solidFill>
            <a:srgbClr val="FBFBF8"/>
          </a:solidFill>
          <a:ln w="28575">
            <a:solidFill>
              <a:srgbClr val="16160F"/>
            </a:solidFill>
            <a:prstDash val="solid"/>
          </a:ln>
        </p:spPr>
      </p:sp>
      <p:sp>
        <p:nvSpPr>
          <p:cNvPr id="12" name="Shape 9"/>
          <p:cNvSpPr/>
          <p:nvPr/>
        </p:nvSpPr>
        <p:spPr>
          <a:xfrm>
            <a:off x="4599432" y="2962656"/>
            <a:ext cx="822960" cy="0"/>
          </a:xfrm>
          <a:prstGeom prst="line">
            <a:avLst/>
          </a:prstGeom>
          <a:noFill/>
          <a:ln w="28575">
            <a:solidFill>
              <a:srgbClr val="16160F"/>
            </a:solidFill>
            <a:prstDash val="solid"/>
          </a:ln>
        </p:spPr>
      </p:sp>
      <p:sp>
        <p:nvSpPr>
          <p:cNvPr id="13" name="Shape 10"/>
          <p:cNvSpPr/>
          <p:nvPr/>
        </p:nvSpPr>
        <p:spPr>
          <a:xfrm>
            <a:off x="4425696" y="2788920"/>
            <a:ext cx="347472" cy="347472"/>
          </a:xfrm>
          <a:prstGeom prst="ellipse">
            <a:avLst/>
          </a:prstGeom>
          <a:solidFill>
            <a:srgbClr val="FBFBF8"/>
          </a:solidFill>
          <a:ln w="28575">
            <a:solidFill>
              <a:srgbClr val="B42318"/>
            </a:solidFill>
            <a:prstDash val="solid"/>
          </a:ln>
        </p:spPr>
      </p:sp>
      <p:sp>
        <p:nvSpPr>
          <p:cNvPr id="14" name="Shape 11"/>
          <p:cNvSpPr/>
          <p:nvPr/>
        </p:nvSpPr>
        <p:spPr>
          <a:xfrm>
            <a:off x="5596128" y="2788920"/>
            <a:ext cx="347472" cy="347472"/>
          </a:xfrm>
          <a:prstGeom prst="ellipse">
            <a:avLst/>
          </a:prstGeom>
          <a:solidFill>
            <a:srgbClr val="FBFBF8"/>
          </a:solidFill>
          <a:ln w="28575">
            <a:solidFill>
              <a:srgbClr val="16160F"/>
            </a:solidFill>
            <a:prstDash val="solid"/>
          </a:ln>
        </p:spPr>
      </p:sp>
      <p:sp>
        <p:nvSpPr>
          <p:cNvPr id="15" name="Text 12"/>
          <p:cNvSpPr txBox="1"/>
          <p:nvPr/>
        </p:nvSpPr>
        <p:spPr>
          <a:xfrm>
            <a:off x="2728570" y="3264408"/>
            <a:ext cx="3291840" cy="320040"/>
          </a:xfrm>
          <a:prstGeom prst="rect">
            <a:avLst/>
          </a:prstGeom>
          <a:noFill/>
          <a:ln/>
        </p:spPr>
        <p:txBody>
          <a:bodyPr wrap="square" lIns="0" tIns="0" rIns="0" bIns="0" rtlCol="0" anchor="ctr"/>
          <a:lstStyle/>
          <a:p>
            <a:pPr indent="0" marL="0">
              <a:buNone/>
            </a:pPr>
            <a:r>
              <a:rPr lang="en-US" sz="1300" i="1" dirty="0">
                <a:solidFill>
                  <a:srgbClr val="B42318"/>
                </a:solidFill>
                <a:latin typeface="Times New Roman" pitchFamily="34" charset="0"/>
                <a:ea typeface="Times New Roman" pitchFamily="34" charset="-122"/>
                <a:cs typeface="Times New Roman" pitchFamily="34" charset="-120"/>
              </a:rPr>
              <a:t>pull one out, and the string breaks here</a:t>
            </a:r>
            <a:endParaRPr lang="en-US" sz="1300" dirty="0"/>
          </a:p>
        </p:txBody>
      </p:sp>
      <p:sp>
        <p:nvSpPr>
          <p:cNvPr id="16" name="Text 13"/>
          <p:cNvSpPr txBox="1"/>
          <p:nvPr/>
        </p:nvSpPr>
        <p:spPr>
          <a:xfrm>
            <a:off x="640080" y="4041648"/>
            <a:ext cx="7863840" cy="822960"/>
          </a:xfrm>
          <a:prstGeom prst="rect">
            <a:avLst/>
          </a:prstGeom>
          <a:noFill/>
          <a:ln/>
        </p:spPr>
        <p:txBody>
          <a:bodyPr wrap="square" lIns="0" tIns="0" rIns="0" bIns="0" rtlCol="0" anchor="t"/>
          <a:lstStyle/>
          <a:p>
            <a:pPr indent="0" marL="0">
              <a:lnSpc>
                <a:spcPct val="125000"/>
              </a:lnSpc>
              <a:buNone/>
            </a:pPr>
            <a:r>
              <a:rPr lang="en-US" sz="1700" dirty="0">
                <a:solidFill>
                  <a:srgbClr val="16160F"/>
                </a:solidFill>
                <a:latin typeface="Times New Roman" pitchFamily="34" charset="0"/>
                <a:ea typeface="Times New Roman" pitchFamily="34" charset="-122"/>
                <a:cs typeface="Times New Roman" pitchFamily="34" charset="-120"/>
              </a:rPr>
              <a:t>You cannot quietly remove a bead from the middle.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How it fits together</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6</a:t>
            </a:r>
            <a:endParaRPr lang="en-US" sz="1000" dirty="0"/>
          </a:p>
        </p:txBody>
      </p:sp>
      <p:sp>
        <p:nvSpPr>
          <p:cNvPr id="5" name="Text 2"/>
          <p:cNvSpPr txBox="1"/>
          <p:nvPr/>
        </p:nvSpPr>
        <p:spPr>
          <a:xfrm>
            <a:off x="640080" y="777240"/>
            <a:ext cx="7863840" cy="548640"/>
          </a:xfrm>
          <a:prstGeom prst="rect">
            <a:avLst/>
          </a:prstGeom>
          <a:noFill/>
          <a:ln/>
        </p:spPr>
        <p:txBody>
          <a:bodyPr wrap="square" lIns="0" tIns="0" rIns="0" bIns="0" rtlCol="0" anchor="t"/>
          <a:lstStyle/>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Architecture</a:t>
            </a:r>
            <a:endParaRPr lang="en-US" sz="2800" dirty="0"/>
          </a:p>
        </p:txBody>
      </p:sp>
      <p:sp>
        <p:nvSpPr>
          <p:cNvPr id="6" name="Shape 3"/>
          <p:cNvSpPr/>
          <p:nvPr/>
        </p:nvSpPr>
        <p:spPr>
          <a:xfrm>
            <a:off x="640080" y="1463040"/>
            <a:ext cx="2286000" cy="1143000"/>
          </a:xfrm>
          <a:prstGeom prst="roundRect">
            <a:avLst>
              <a:gd name="adj" fmla="val 4000"/>
            </a:avLst>
          </a:prstGeom>
          <a:solidFill>
            <a:srgbClr val="FBFBF8"/>
          </a:solidFill>
          <a:ln w="12700">
            <a:solidFill>
              <a:srgbClr val="C9C9BF"/>
            </a:solidFill>
            <a:prstDash val="solid"/>
          </a:ln>
        </p:spPr>
      </p:sp>
      <p:sp>
        <p:nvSpPr>
          <p:cNvPr id="7" name="Text 4"/>
          <p:cNvSpPr txBox="1"/>
          <p:nvPr/>
        </p:nvSpPr>
        <p:spPr>
          <a:xfrm>
            <a:off x="786384" y="1572768"/>
            <a:ext cx="1993392" cy="27432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Field app</a:t>
            </a:r>
            <a:endParaRPr lang="en-US" sz="1400" dirty="0"/>
          </a:p>
        </p:txBody>
      </p:sp>
      <p:sp>
        <p:nvSpPr>
          <p:cNvPr id="8" name="Text 5"/>
          <p:cNvSpPr txBox="1"/>
          <p:nvPr/>
        </p:nvSpPr>
        <p:spPr>
          <a:xfrm>
            <a:off x="786384" y="1874520"/>
            <a:ext cx="1993392" cy="640080"/>
          </a:xfrm>
          <a:prstGeom prst="rect">
            <a:avLst/>
          </a:prstGeom>
          <a:noFill/>
          <a:ln/>
        </p:spPr>
        <p:txBody>
          <a:bodyPr wrap="square" lIns="0" tIns="0" rIns="0" bIns="0" rtlCol="0" anchor="ctr"/>
          <a:lstStyle/>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offline capture</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hashing on the device</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local queue</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deferred sync</a:t>
            </a:r>
            <a:endParaRPr lang="en-US" sz="1050" dirty="0"/>
          </a:p>
        </p:txBody>
      </p:sp>
      <p:sp>
        <p:nvSpPr>
          <p:cNvPr id="9" name="Shape 6"/>
          <p:cNvSpPr/>
          <p:nvPr/>
        </p:nvSpPr>
        <p:spPr>
          <a:xfrm>
            <a:off x="6217920" y="1463040"/>
            <a:ext cx="2286000" cy="1143000"/>
          </a:xfrm>
          <a:prstGeom prst="roundRect">
            <a:avLst>
              <a:gd name="adj" fmla="val 4000"/>
            </a:avLst>
          </a:prstGeom>
          <a:solidFill>
            <a:srgbClr val="FBFBF8"/>
          </a:solidFill>
          <a:ln w="12700">
            <a:solidFill>
              <a:srgbClr val="C9C9BF"/>
            </a:solidFill>
            <a:prstDash val="solid"/>
          </a:ln>
        </p:spPr>
      </p:sp>
      <p:sp>
        <p:nvSpPr>
          <p:cNvPr id="10" name="Text 7"/>
          <p:cNvSpPr txBox="1"/>
          <p:nvPr/>
        </p:nvSpPr>
        <p:spPr>
          <a:xfrm>
            <a:off x="6364224" y="1572768"/>
            <a:ext cx="1993392" cy="27432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Dashboard</a:t>
            </a:r>
            <a:endParaRPr lang="en-US" sz="1400" dirty="0"/>
          </a:p>
        </p:txBody>
      </p:sp>
      <p:sp>
        <p:nvSpPr>
          <p:cNvPr id="11" name="Text 8"/>
          <p:cNvSpPr txBox="1"/>
          <p:nvPr/>
        </p:nvSpPr>
        <p:spPr>
          <a:xfrm>
            <a:off x="6364224" y="1874520"/>
            <a:ext cx="1993392" cy="640080"/>
          </a:xfrm>
          <a:prstGeom prst="rect">
            <a:avLst/>
          </a:prstGeom>
          <a:noFill/>
          <a:ln/>
        </p:spPr>
        <p:txBody>
          <a:bodyPr wrap="square" lIns="0" tIns="0" rIns="0" bIns="0" rtlCol="0" anchor="ctr"/>
          <a:lstStyle/>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case and item views</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custody timeline</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chunk map</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verify</a:t>
            </a:r>
            <a:endParaRPr lang="en-US" sz="1050" dirty="0"/>
          </a:p>
        </p:txBody>
      </p:sp>
      <p:sp>
        <p:nvSpPr>
          <p:cNvPr id="12" name="Shape 9"/>
          <p:cNvSpPr/>
          <p:nvPr/>
        </p:nvSpPr>
        <p:spPr>
          <a:xfrm>
            <a:off x="3108960" y="3127248"/>
            <a:ext cx="2926080" cy="960120"/>
          </a:xfrm>
          <a:prstGeom prst="roundRect">
            <a:avLst>
              <a:gd name="adj" fmla="val 4762"/>
            </a:avLst>
          </a:prstGeom>
          <a:solidFill>
            <a:srgbClr val="FBFBF8"/>
          </a:solidFill>
          <a:ln w="12700">
            <a:solidFill>
              <a:srgbClr val="C9C9BF"/>
            </a:solidFill>
            <a:prstDash val="solid"/>
          </a:ln>
        </p:spPr>
      </p:sp>
      <p:sp>
        <p:nvSpPr>
          <p:cNvPr id="13" name="Text 10"/>
          <p:cNvSpPr txBox="1"/>
          <p:nvPr/>
        </p:nvSpPr>
        <p:spPr>
          <a:xfrm>
            <a:off x="3255264" y="3236976"/>
            <a:ext cx="2633472" cy="27432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API and database</a:t>
            </a:r>
            <a:endParaRPr lang="en-US" sz="1400" dirty="0"/>
          </a:p>
        </p:txBody>
      </p:sp>
      <p:sp>
        <p:nvSpPr>
          <p:cNvPr id="14" name="Text 11"/>
          <p:cNvSpPr txBox="1"/>
          <p:nvPr/>
        </p:nvSpPr>
        <p:spPr>
          <a:xfrm>
            <a:off x="3255264" y="3538728"/>
            <a:ext cx="2633472" cy="457200"/>
          </a:xfrm>
          <a:prstGeom prst="rect">
            <a:avLst/>
          </a:prstGeom>
          <a:noFill/>
          <a:ln/>
        </p:spPr>
        <p:txBody>
          <a:bodyPr wrap="square" lIns="0" tIns="0" rIns="0" bIns="0" rtlCol="0" anchor="ctr"/>
          <a:lstStyle/>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append only custody events</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verification</a:t>
            </a:r>
            <a:endParaRPr lang="en-US" sz="1050" dirty="0"/>
          </a:p>
          <a:p>
            <a:pPr indent="0" marL="0">
              <a:lnSpc>
                <a:spcPct val="120000"/>
              </a:lnSpc>
              <a:buNone/>
            </a:pPr>
            <a:r>
              <a:rPr lang="en-US" sz="1050" dirty="0">
                <a:solidFill>
                  <a:srgbClr val="6B6B60"/>
                </a:solidFill>
                <a:latin typeface="Times New Roman" pitchFamily="34" charset="0"/>
                <a:ea typeface="Times New Roman" pitchFamily="34" charset="-122"/>
                <a:cs typeface="Times New Roman" pitchFamily="34" charset="-120"/>
              </a:rPr>
              <a:t>one page report</a:t>
            </a:r>
            <a:endParaRPr lang="en-US" sz="1050" dirty="0"/>
          </a:p>
        </p:txBody>
      </p:sp>
      <p:sp>
        <p:nvSpPr>
          <p:cNvPr id="15" name="Shape 12"/>
          <p:cNvSpPr/>
          <p:nvPr/>
        </p:nvSpPr>
        <p:spPr>
          <a:xfrm>
            <a:off x="1783080" y="2624328"/>
            <a:ext cx="2103120" cy="475488"/>
          </a:xfrm>
          <a:prstGeom prst="line">
            <a:avLst/>
          </a:prstGeom>
          <a:noFill/>
          <a:ln w="13970">
            <a:solidFill>
              <a:srgbClr val="6B6B60"/>
            </a:solidFill>
            <a:prstDash val="solid"/>
            <a:tailEnd type="triangle"/>
          </a:ln>
        </p:spPr>
      </p:sp>
      <p:sp>
        <p:nvSpPr>
          <p:cNvPr id="16" name="Shape 13"/>
          <p:cNvSpPr/>
          <p:nvPr/>
        </p:nvSpPr>
        <p:spPr>
          <a:xfrm>
            <a:off x="6035040" y="3099816"/>
            <a:ext cx="1325880" cy="-475488"/>
          </a:xfrm>
          <a:prstGeom prst="line">
            <a:avLst/>
          </a:prstGeom>
          <a:noFill/>
          <a:ln w="13970">
            <a:solidFill>
              <a:srgbClr val="6B6B60"/>
            </a:solidFill>
            <a:prstDash val="solid"/>
            <a:headEnd type="triangle"/>
          </a:ln>
        </p:spPr>
      </p:sp>
      <p:sp>
        <p:nvSpPr>
          <p:cNvPr id="17" name="Text 14"/>
          <p:cNvSpPr txBox="1"/>
          <p:nvPr/>
        </p:nvSpPr>
        <p:spPr>
          <a:xfrm>
            <a:off x="640080" y="4315968"/>
            <a:ext cx="7863840" cy="320040"/>
          </a:xfrm>
          <a:prstGeom prst="rect">
            <a:avLst/>
          </a:prstGeom>
          <a:noFill/>
          <a:ln/>
        </p:spPr>
        <p:txBody>
          <a:bodyPr wrap="square" lIns="0" tIns="0" rIns="0" bIns="0" rtlCol="0" anchor="ctr"/>
          <a:lstStyle/>
          <a:p>
            <a:pPr algn="ctr" indent="0" marL="0">
              <a:buNone/>
            </a:pPr>
            <a:r>
              <a:rPr lang="en-US" sz="1250" dirty="0">
                <a:solidFill>
                  <a:srgbClr val="6B6B60"/>
                </a:solidFill>
                <a:latin typeface="Times New Roman" pitchFamily="34" charset="0"/>
                <a:ea typeface="Times New Roman" pitchFamily="34" charset="-122"/>
                <a:cs typeface="Times New Roman" pitchFamily="34" charset="-120"/>
              </a:rPr>
              <a:t>Everything runs on one laptop. No cloud. Nothing paid for.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Power cuts and dead networks</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7</a:t>
            </a:r>
            <a:endParaRPr lang="en-US" sz="1000" dirty="0"/>
          </a:p>
        </p:txBody>
      </p:sp>
      <p:sp>
        <p:nvSpPr>
          <p:cNvPr id="5" name="Text 2"/>
          <p:cNvSpPr txBox="1"/>
          <p:nvPr/>
        </p:nvSpPr>
        <p:spPr>
          <a:xfrm>
            <a:off x="640080" y="914400"/>
            <a:ext cx="5440680" cy="1600200"/>
          </a:xfrm>
          <a:prstGeom prst="rect">
            <a:avLst/>
          </a:prstGeom>
          <a:noFill/>
          <a:ln/>
        </p:spPr>
        <p:txBody>
          <a:bodyPr wrap="square" lIns="0" tIns="0" rIns="0" bIns="0" rtlCol="0" anchor="t"/>
          <a:lstStyle/>
          <a:p>
            <a:pPr indent="0" marL="0">
              <a:lnSpc>
                <a:spcPct val="112000"/>
              </a:lnSpc>
              <a:buNone/>
            </a:pPr>
            <a:r>
              <a:rPr lang="en-US" sz="2100" b="1" dirty="0">
                <a:solidFill>
                  <a:srgbClr val="16160F"/>
                </a:solidFill>
                <a:latin typeface="Times New Roman" pitchFamily="34" charset="0"/>
                <a:ea typeface="Times New Roman" pitchFamily="34" charset="-122"/>
                <a:cs typeface="Times New Roman" pitchFamily="34" charset="-120"/>
              </a:rPr>
              <a:t>The fingerprint is taken at the scene,</a:t>
            </a:r>
            <a:endParaRPr lang="en-US" sz="2100" dirty="0"/>
          </a:p>
          <a:p>
            <a:pPr indent="0" marL="0">
              <a:lnSpc>
                <a:spcPct val="112000"/>
              </a:lnSpc>
              <a:buNone/>
            </a:pPr>
            <a:r>
              <a:rPr lang="en-US" sz="2100" b="1" dirty="0">
                <a:solidFill>
                  <a:srgbClr val="16160F"/>
                </a:solidFill>
                <a:latin typeface="Times New Roman" pitchFamily="34" charset="0"/>
                <a:ea typeface="Times New Roman" pitchFamily="34" charset="-122"/>
                <a:cs typeface="Times New Roman" pitchFamily="34" charset="-120"/>
              </a:rPr>
              <a:t>on the officer's device, before the file</a:t>
            </a:r>
            <a:endParaRPr lang="en-US" sz="2100" dirty="0"/>
          </a:p>
          <a:p>
            <a:pPr indent="0" marL="0">
              <a:lnSpc>
                <a:spcPct val="112000"/>
              </a:lnSpc>
              <a:buNone/>
            </a:pPr>
            <a:r>
              <a:rPr lang="en-US" sz="2100" b="1" dirty="0">
                <a:solidFill>
                  <a:srgbClr val="16160F"/>
                </a:solidFill>
                <a:latin typeface="Times New Roman" pitchFamily="34" charset="0"/>
                <a:ea typeface="Times New Roman" pitchFamily="34" charset="-122"/>
                <a:cs typeface="Times New Roman" pitchFamily="34" charset="-120"/>
              </a:rPr>
              <a:t>goes anywhere.</a:t>
            </a:r>
            <a:endParaRPr lang="en-US" sz="2100" dirty="0"/>
          </a:p>
        </p:txBody>
      </p:sp>
      <p:sp>
        <p:nvSpPr>
          <p:cNvPr id="6" name="Shape 3"/>
          <p:cNvSpPr/>
          <p:nvPr/>
        </p:nvSpPr>
        <p:spPr>
          <a:xfrm>
            <a:off x="6355080" y="868680"/>
            <a:ext cx="1965960" cy="3017520"/>
          </a:xfrm>
          <a:prstGeom prst="roundRect">
            <a:avLst>
              <a:gd name="adj" fmla="val 7442"/>
            </a:avLst>
          </a:prstGeom>
          <a:solidFill>
            <a:srgbClr val="FBFBF8"/>
          </a:solidFill>
          <a:ln w="15240">
            <a:solidFill>
              <a:srgbClr val="C9C9BF"/>
            </a:solidFill>
            <a:prstDash val="solid"/>
          </a:ln>
        </p:spPr>
      </p:sp>
      <p:sp>
        <p:nvSpPr>
          <p:cNvPr id="7" name="Text 4"/>
          <p:cNvSpPr txBox="1"/>
          <p:nvPr/>
        </p:nvSpPr>
        <p:spPr>
          <a:xfrm>
            <a:off x="6519672" y="1069848"/>
            <a:ext cx="914400" cy="228600"/>
          </a:xfrm>
          <a:prstGeom prst="rect">
            <a:avLst/>
          </a:prstGeom>
          <a:noFill/>
          <a:ln/>
        </p:spPr>
        <p:txBody>
          <a:bodyPr wrap="square" lIns="0" tIns="0" rIns="0" bIns="0" rtlCol="0" anchor="ctr"/>
          <a:lstStyle/>
          <a:p>
            <a:pPr indent="0" marL="0">
              <a:buNone/>
            </a:pPr>
            <a:r>
              <a:rPr lang="en-US" sz="1100" b="1" dirty="0">
                <a:solidFill>
                  <a:srgbClr val="16160F"/>
                </a:solidFill>
                <a:latin typeface="Times New Roman" pitchFamily="34" charset="0"/>
                <a:ea typeface="Times New Roman" pitchFamily="34" charset="-122"/>
                <a:cs typeface="Times New Roman" pitchFamily="34" charset="-120"/>
              </a:rPr>
              <a:t>Custody</a:t>
            </a:r>
            <a:endParaRPr lang="en-US" sz="1100" dirty="0"/>
          </a:p>
        </p:txBody>
      </p:sp>
      <p:sp>
        <p:nvSpPr>
          <p:cNvPr id="8" name="Shape 5"/>
          <p:cNvSpPr/>
          <p:nvPr/>
        </p:nvSpPr>
        <p:spPr>
          <a:xfrm>
            <a:off x="7488936" y="1051560"/>
            <a:ext cx="658368" cy="201168"/>
          </a:xfrm>
          <a:prstGeom prst="roundRect">
            <a:avLst>
              <a:gd name="adj" fmla="val 50000"/>
            </a:avLst>
          </a:prstGeom>
          <a:solidFill>
            <a:srgbClr val="F2E3B8"/>
          </a:solidFill>
          <a:ln w="6350">
            <a:solidFill>
              <a:srgbClr val="F2E3B8"/>
            </a:solidFill>
            <a:prstDash val="solid"/>
          </a:ln>
        </p:spPr>
      </p:sp>
      <p:sp>
        <p:nvSpPr>
          <p:cNvPr id="9" name="Text 6"/>
          <p:cNvSpPr txBox="1"/>
          <p:nvPr/>
        </p:nvSpPr>
        <p:spPr>
          <a:xfrm>
            <a:off x="7488936" y="1065276"/>
            <a:ext cx="658368" cy="182880"/>
          </a:xfrm>
          <a:prstGeom prst="rect">
            <a:avLst/>
          </a:prstGeom>
          <a:noFill/>
          <a:ln/>
        </p:spPr>
        <p:txBody>
          <a:bodyPr wrap="square" lIns="0" tIns="0" rIns="0" bIns="0" rtlCol="0" anchor="ctr"/>
          <a:lstStyle/>
          <a:p>
            <a:pPr algn="ctr" indent="0" marL="0">
              <a:buNone/>
            </a:pPr>
            <a:r>
              <a:rPr lang="en-US" sz="800" b="1" dirty="0">
                <a:solidFill>
                  <a:srgbClr val="7A5C00"/>
                </a:solidFill>
                <a:latin typeface="Times New Roman" pitchFamily="34" charset="0"/>
                <a:ea typeface="Times New Roman" pitchFamily="34" charset="-122"/>
                <a:cs typeface="Times New Roman" pitchFamily="34" charset="-120"/>
              </a:rPr>
              <a:t>1 pending</a:t>
            </a:r>
            <a:endParaRPr lang="en-US" sz="800" dirty="0"/>
          </a:p>
        </p:txBody>
      </p:sp>
      <p:sp>
        <p:nvSpPr>
          <p:cNvPr id="10" name="Shape 7"/>
          <p:cNvSpPr/>
          <p:nvPr/>
        </p:nvSpPr>
        <p:spPr>
          <a:xfrm>
            <a:off x="6501384" y="1435608"/>
            <a:ext cx="1673352" cy="1051560"/>
          </a:xfrm>
          <a:prstGeom prst="roundRect">
            <a:avLst>
              <a:gd name="adj" fmla="val 4348"/>
            </a:avLst>
          </a:prstGeom>
          <a:solidFill>
            <a:srgbClr val="FBFBF8"/>
          </a:solidFill>
          <a:ln w="10160">
            <a:solidFill>
              <a:srgbClr val="C9C9BF"/>
            </a:solidFill>
            <a:prstDash val="solid"/>
          </a:ln>
        </p:spPr>
      </p:sp>
      <p:sp>
        <p:nvSpPr>
          <p:cNvPr id="11" name="Text 8"/>
          <p:cNvSpPr txBox="1"/>
          <p:nvPr/>
        </p:nvSpPr>
        <p:spPr>
          <a:xfrm>
            <a:off x="6629400" y="1545336"/>
            <a:ext cx="1463040" cy="182880"/>
          </a:xfrm>
          <a:prstGeom prst="rect">
            <a:avLst/>
          </a:prstGeom>
          <a:noFill/>
          <a:ln/>
        </p:spPr>
        <p:txBody>
          <a:bodyPr wrap="square" lIns="0" tIns="0" rIns="0" bIns="0" rtlCol="0" anchor="ctr"/>
          <a:lstStyle/>
          <a:p>
            <a:pPr indent="0" marL="0">
              <a:buNone/>
            </a:pPr>
            <a:r>
              <a:rPr lang="en-US" sz="1000" b="1" dirty="0">
                <a:solidFill>
                  <a:srgbClr val="16160F"/>
                </a:solidFill>
                <a:latin typeface="Times New Roman" pitchFamily="34" charset="0"/>
                <a:ea typeface="Times New Roman" pitchFamily="34" charset="-122"/>
                <a:cs typeface="Times New Roman" pitchFamily="34" charset="-120"/>
              </a:rPr>
              <a:t>EX-FIELD-004821</a:t>
            </a:r>
            <a:endParaRPr lang="en-US" sz="1000" dirty="0"/>
          </a:p>
        </p:txBody>
      </p:sp>
      <p:sp>
        <p:nvSpPr>
          <p:cNvPr id="12" name="Text 9"/>
          <p:cNvSpPr txBox="1"/>
          <p:nvPr/>
        </p:nvSpPr>
        <p:spPr>
          <a:xfrm>
            <a:off x="6629400" y="1728216"/>
            <a:ext cx="1463040" cy="182880"/>
          </a:xfrm>
          <a:prstGeom prst="rect">
            <a:avLst/>
          </a:prstGeom>
          <a:noFill/>
          <a:ln/>
        </p:spPr>
        <p:txBody>
          <a:bodyPr wrap="square" lIns="0" tIns="0" rIns="0" bIns="0" rtlCol="0" anchor="ctr"/>
          <a:lstStyle/>
          <a:p>
            <a:pPr indent="0" marL="0">
              <a:buNone/>
            </a:pPr>
            <a:r>
              <a:rPr lang="en-US" sz="850" dirty="0">
                <a:solidFill>
                  <a:srgbClr val="6B6B60"/>
                </a:solidFill>
                <a:latin typeface="Times New Roman" pitchFamily="34" charset="0"/>
                <a:ea typeface="Times New Roman" pitchFamily="34" charset="-122"/>
                <a:cs typeface="Times New Roman" pitchFamily="34" charset="-120"/>
              </a:rPr>
              <a:t>handset extraction</a:t>
            </a:r>
            <a:endParaRPr lang="en-US" sz="850" dirty="0"/>
          </a:p>
        </p:txBody>
      </p:sp>
      <p:sp>
        <p:nvSpPr>
          <p:cNvPr id="13" name="Text 10"/>
          <p:cNvSpPr txBox="1"/>
          <p:nvPr/>
        </p:nvSpPr>
        <p:spPr>
          <a:xfrm>
            <a:off x="6629400" y="1911096"/>
            <a:ext cx="1463040" cy="182880"/>
          </a:xfrm>
          <a:prstGeom prst="rect">
            <a:avLst/>
          </a:prstGeom>
          <a:noFill/>
          <a:ln/>
        </p:spPr>
        <p:txBody>
          <a:bodyPr wrap="square" lIns="0" tIns="0" rIns="0" bIns="0" rtlCol="0" anchor="ctr"/>
          <a:lstStyle/>
          <a:p>
            <a:pPr indent="0" marL="0">
              <a:buNone/>
            </a:pPr>
            <a:r>
              <a:rPr lang="en-US" sz="950" b="1" dirty="0">
                <a:solidFill>
                  <a:srgbClr val="1A7F37"/>
                </a:solidFill>
                <a:latin typeface="Times New Roman" pitchFamily="34" charset="0"/>
                <a:ea typeface="Times New Roman" pitchFamily="34" charset="-122"/>
                <a:cs typeface="Times New Roman" pitchFamily="34" charset="-120"/>
              </a:rPr>
              <a:t>A3F1 9C22 7E04</a:t>
            </a:r>
            <a:endParaRPr lang="en-US" sz="950" dirty="0"/>
          </a:p>
        </p:txBody>
      </p:sp>
      <p:sp>
        <p:nvSpPr>
          <p:cNvPr id="14" name="Shape 11"/>
          <p:cNvSpPr/>
          <p:nvPr/>
        </p:nvSpPr>
        <p:spPr>
          <a:xfrm>
            <a:off x="6629400" y="2148840"/>
            <a:ext cx="1170432" cy="201168"/>
          </a:xfrm>
          <a:prstGeom prst="roundRect">
            <a:avLst>
              <a:gd name="adj" fmla="val 50000"/>
            </a:avLst>
          </a:prstGeom>
          <a:solidFill>
            <a:srgbClr val="F2E3B8"/>
          </a:solidFill>
          <a:ln w="6350">
            <a:solidFill>
              <a:srgbClr val="F2E3B8"/>
            </a:solidFill>
            <a:prstDash val="solid"/>
          </a:ln>
        </p:spPr>
      </p:sp>
      <p:sp>
        <p:nvSpPr>
          <p:cNvPr id="15" name="Text 12"/>
          <p:cNvSpPr txBox="1"/>
          <p:nvPr/>
        </p:nvSpPr>
        <p:spPr>
          <a:xfrm>
            <a:off x="6629400" y="2162556"/>
            <a:ext cx="1170432" cy="182880"/>
          </a:xfrm>
          <a:prstGeom prst="rect">
            <a:avLst/>
          </a:prstGeom>
          <a:noFill/>
          <a:ln/>
        </p:spPr>
        <p:txBody>
          <a:bodyPr wrap="square" lIns="0" tIns="0" rIns="0" bIns="0" rtlCol="0" anchor="ctr"/>
          <a:lstStyle/>
          <a:p>
            <a:pPr algn="ctr" indent="0" marL="0">
              <a:buNone/>
            </a:pPr>
            <a:r>
              <a:rPr lang="en-US" sz="800" b="1" dirty="0">
                <a:solidFill>
                  <a:srgbClr val="7A5C00"/>
                </a:solidFill>
                <a:latin typeface="Times New Roman" pitchFamily="34" charset="0"/>
                <a:ea typeface="Times New Roman" pitchFamily="34" charset="-122"/>
                <a:cs typeface="Times New Roman" pitchFamily="34" charset="-120"/>
              </a:rPr>
              <a:t>Sealed, not synced</a:t>
            </a:r>
            <a:endParaRPr lang="en-US" sz="800" dirty="0"/>
          </a:p>
        </p:txBody>
      </p:sp>
      <p:sp>
        <p:nvSpPr>
          <p:cNvPr id="16" name="Text 13"/>
          <p:cNvSpPr txBox="1"/>
          <p:nvPr/>
        </p:nvSpPr>
        <p:spPr>
          <a:xfrm>
            <a:off x="6501384" y="2697480"/>
            <a:ext cx="1673352" cy="457200"/>
          </a:xfrm>
          <a:prstGeom prst="rect">
            <a:avLst/>
          </a:prstGeom>
          <a:noFill/>
          <a:ln/>
        </p:spPr>
        <p:txBody>
          <a:bodyPr wrap="square" lIns="0" tIns="0" rIns="0" bIns="0" rtlCol="0" anchor="ctr"/>
          <a:lstStyle/>
          <a:p>
            <a:pPr algn="ctr" indent="0" marL="0">
              <a:buNone/>
            </a:pPr>
            <a:r>
              <a:rPr lang="en-US" sz="900" dirty="0">
                <a:solidFill>
                  <a:srgbClr val="6B6B60"/>
                </a:solidFill>
                <a:latin typeface="Times New Roman" pitchFamily="34" charset="0"/>
                <a:ea typeface="Times New Roman" pitchFamily="34" charset="-122"/>
                <a:cs typeface="Times New Roman" pitchFamily="34" charset="-120"/>
              </a:rPr>
              <a:t>Airplane mode. No network at the scene.</a:t>
            </a:r>
            <a:endParaRPr lang="en-US" sz="900" dirty="0"/>
          </a:p>
        </p:txBody>
      </p:sp>
      <p:sp>
        <p:nvSpPr>
          <p:cNvPr id="17" name="Text 14"/>
          <p:cNvSpPr txBox="1"/>
          <p:nvPr/>
        </p:nvSpPr>
        <p:spPr>
          <a:xfrm>
            <a:off x="640080" y="2880360"/>
            <a:ext cx="5440680" cy="731520"/>
          </a:xfrm>
          <a:prstGeom prst="rect">
            <a:avLst/>
          </a:prstGeom>
          <a:noFill/>
          <a:ln/>
        </p:spPr>
        <p:txBody>
          <a:bodyPr wrap="square" lIns="0" tIns="0" rIns="0" bIns="0" rtlCol="0" anchor="t"/>
          <a:lstStyle/>
          <a:p>
            <a:pPr indent="0" marL="0">
              <a:lnSpc>
                <a:spcPct val="125000"/>
              </a:lnSpc>
              <a:buNone/>
            </a:pPr>
            <a:r>
              <a:rPr lang="en-US" sz="1500" dirty="0">
                <a:solidFill>
                  <a:srgbClr val="16160F"/>
                </a:solidFill>
                <a:latin typeface="Times New Roman" pitchFamily="34" charset="0"/>
                <a:ea typeface="Times New Roman" pitchFamily="34" charset="-122"/>
                <a:cs typeface="Times New Roman" pitchFamily="34" charset="-120"/>
              </a:rPr>
              <a:t>Nothing between the scene and the server can alter the file</a:t>
            </a:r>
            <a:endParaRPr lang="en-US" sz="1500" dirty="0"/>
          </a:p>
          <a:p>
            <a:pPr indent="0" marL="0">
              <a:lnSpc>
                <a:spcPct val="125000"/>
              </a:lnSpc>
              <a:buNone/>
            </a:pPr>
            <a:r>
              <a:rPr lang="en-US" sz="1500" dirty="0">
                <a:solidFill>
                  <a:srgbClr val="16160F"/>
                </a:solidFill>
                <a:latin typeface="Times New Roman" pitchFamily="34" charset="0"/>
                <a:ea typeface="Times New Roman" pitchFamily="34" charset="-122"/>
                <a:cs typeface="Times New Roman" pitchFamily="34" charset="-120"/>
              </a:rPr>
              <a:t>without it being detectable.</a:t>
            </a:r>
            <a:endParaRPr lang="en-US" sz="1500" dirty="0"/>
          </a:p>
        </p:txBody>
      </p:sp>
      <p:sp>
        <p:nvSpPr>
          <p:cNvPr id="18" name="Text 15"/>
          <p:cNvSpPr txBox="1"/>
          <p:nvPr/>
        </p:nvSpPr>
        <p:spPr>
          <a:xfrm>
            <a:off x="640080" y="3886200"/>
            <a:ext cx="5440680" cy="640080"/>
          </a:xfrm>
          <a:prstGeom prst="rect">
            <a:avLst/>
          </a:prstGeom>
          <a:noFill/>
          <a:ln/>
        </p:spPr>
        <p:txBody>
          <a:bodyPr wrap="square" lIns="0" tIns="0" rIns="0" bIns="0" rtlCol="0" anchor="t"/>
          <a:lstStyle/>
          <a:p>
            <a:pPr indent="0" marL="0">
              <a:lnSpc>
                <a:spcPct val="125000"/>
              </a:lnSpc>
              <a:buNone/>
            </a:pPr>
            <a:r>
              <a:rPr lang="en-US" sz="1200" i="1" dirty="0">
                <a:solidFill>
                  <a:srgbClr val="6B6B60"/>
                </a:solidFill>
                <a:latin typeface="Times New Roman" pitchFamily="34" charset="0"/>
                <a:ea typeface="Times New Roman" pitchFamily="34" charset="-122"/>
                <a:cs typeface="Times New Roman" pitchFamily="34" charset="-120"/>
              </a:rPr>
              <a:t>A question about power cuts and dead networks, answered by architecture rather than by a paragraph.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One extraction can exceed 100GB</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8</a:t>
            </a:r>
            <a:endParaRPr lang="en-US" sz="1000" dirty="0"/>
          </a:p>
        </p:txBody>
      </p:sp>
      <p:sp>
        <p:nvSpPr>
          <p:cNvPr id="5" name="Text 2"/>
          <p:cNvSpPr txBox="1"/>
          <p:nvPr/>
        </p:nvSpPr>
        <p:spPr>
          <a:xfrm>
            <a:off x="640080" y="868680"/>
            <a:ext cx="7863840" cy="1143000"/>
          </a:xfrm>
          <a:prstGeom prst="rect">
            <a:avLst/>
          </a:prstGeom>
          <a:noFill/>
          <a:ln/>
        </p:spPr>
        <p:txBody>
          <a:bodyPr wrap="square" lIns="0" tIns="0" rIns="0" bIns="0" rtlCol="0" anchor="t"/>
          <a:lstStyle/>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We say which part changed,</a:t>
            </a:r>
            <a:endParaRPr lang="en-US" sz="2700" dirty="0"/>
          </a:p>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not just that something did.</a:t>
            </a:r>
            <a:endParaRPr lang="en-US" sz="2700" dirty="0"/>
          </a:p>
        </p:txBody>
      </p:sp>
      <p:sp>
        <p:nvSpPr>
          <p:cNvPr id="6" name="Shape 3"/>
          <p:cNvSpPr/>
          <p:nvPr/>
        </p:nvSpPr>
        <p:spPr>
          <a:xfrm>
            <a:off x="640080" y="2331720"/>
            <a:ext cx="841248" cy="566928"/>
          </a:xfrm>
          <a:prstGeom prst="roundRect">
            <a:avLst>
              <a:gd name="adj" fmla="val 6452"/>
            </a:avLst>
          </a:prstGeom>
          <a:solidFill>
            <a:srgbClr val="E8F5EC"/>
          </a:solidFill>
          <a:ln w="12700">
            <a:solidFill>
              <a:srgbClr val="BFE3CA"/>
            </a:solidFill>
            <a:prstDash val="solid"/>
          </a:ln>
        </p:spPr>
      </p:sp>
      <p:sp>
        <p:nvSpPr>
          <p:cNvPr id="7" name="Text 4"/>
          <p:cNvSpPr txBox="1"/>
          <p:nvPr/>
        </p:nvSpPr>
        <p:spPr>
          <a:xfrm>
            <a:off x="640080"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1</a:t>
            </a:r>
            <a:endParaRPr lang="en-US" sz="1400" dirty="0"/>
          </a:p>
        </p:txBody>
      </p:sp>
      <p:sp>
        <p:nvSpPr>
          <p:cNvPr id="8" name="Shape 5"/>
          <p:cNvSpPr/>
          <p:nvPr/>
        </p:nvSpPr>
        <p:spPr>
          <a:xfrm>
            <a:off x="1572768" y="2331720"/>
            <a:ext cx="841248" cy="566928"/>
          </a:xfrm>
          <a:prstGeom prst="roundRect">
            <a:avLst>
              <a:gd name="adj" fmla="val 6452"/>
            </a:avLst>
          </a:prstGeom>
          <a:solidFill>
            <a:srgbClr val="E8F5EC"/>
          </a:solidFill>
          <a:ln w="12700">
            <a:solidFill>
              <a:srgbClr val="BFE3CA"/>
            </a:solidFill>
            <a:prstDash val="solid"/>
          </a:ln>
        </p:spPr>
      </p:sp>
      <p:sp>
        <p:nvSpPr>
          <p:cNvPr id="9" name="Text 6"/>
          <p:cNvSpPr txBox="1"/>
          <p:nvPr/>
        </p:nvSpPr>
        <p:spPr>
          <a:xfrm>
            <a:off x="1572768"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2</a:t>
            </a:r>
            <a:endParaRPr lang="en-US" sz="1400" dirty="0"/>
          </a:p>
        </p:txBody>
      </p:sp>
      <p:sp>
        <p:nvSpPr>
          <p:cNvPr id="10" name="Shape 7"/>
          <p:cNvSpPr/>
          <p:nvPr/>
        </p:nvSpPr>
        <p:spPr>
          <a:xfrm>
            <a:off x="2505456" y="2331720"/>
            <a:ext cx="841248" cy="566928"/>
          </a:xfrm>
          <a:prstGeom prst="roundRect">
            <a:avLst>
              <a:gd name="adj" fmla="val 6452"/>
            </a:avLst>
          </a:prstGeom>
          <a:solidFill>
            <a:srgbClr val="E8F5EC"/>
          </a:solidFill>
          <a:ln w="12700">
            <a:solidFill>
              <a:srgbClr val="BFE3CA"/>
            </a:solidFill>
            <a:prstDash val="solid"/>
          </a:ln>
        </p:spPr>
      </p:sp>
      <p:sp>
        <p:nvSpPr>
          <p:cNvPr id="11" name="Text 8"/>
          <p:cNvSpPr txBox="1"/>
          <p:nvPr/>
        </p:nvSpPr>
        <p:spPr>
          <a:xfrm>
            <a:off x="2505456"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3</a:t>
            </a:r>
            <a:endParaRPr lang="en-US" sz="1400" dirty="0"/>
          </a:p>
        </p:txBody>
      </p:sp>
      <p:sp>
        <p:nvSpPr>
          <p:cNvPr id="12" name="Shape 9"/>
          <p:cNvSpPr/>
          <p:nvPr/>
        </p:nvSpPr>
        <p:spPr>
          <a:xfrm>
            <a:off x="3438144" y="2331720"/>
            <a:ext cx="841248" cy="566928"/>
          </a:xfrm>
          <a:prstGeom prst="roundRect">
            <a:avLst>
              <a:gd name="adj" fmla="val 6452"/>
            </a:avLst>
          </a:prstGeom>
          <a:solidFill>
            <a:srgbClr val="E8F5EC"/>
          </a:solidFill>
          <a:ln w="12700">
            <a:solidFill>
              <a:srgbClr val="BFE3CA"/>
            </a:solidFill>
            <a:prstDash val="solid"/>
          </a:ln>
        </p:spPr>
      </p:sp>
      <p:sp>
        <p:nvSpPr>
          <p:cNvPr id="13" name="Text 10"/>
          <p:cNvSpPr txBox="1"/>
          <p:nvPr/>
        </p:nvSpPr>
        <p:spPr>
          <a:xfrm>
            <a:off x="3438144"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4</a:t>
            </a:r>
            <a:endParaRPr lang="en-US" sz="1400" dirty="0"/>
          </a:p>
        </p:txBody>
      </p:sp>
      <p:sp>
        <p:nvSpPr>
          <p:cNvPr id="14" name="Shape 11"/>
          <p:cNvSpPr/>
          <p:nvPr/>
        </p:nvSpPr>
        <p:spPr>
          <a:xfrm>
            <a:off x="4370832" y="2331720"/>
            <a:ext cx="841248" cy="566928"/>
          </a:xfrm>
          <a:prstGeom prst="roundRect">
            <a:avLst>
              <a:gd name="adj" fmla="val 6452"/>
            </a:avLst>
          </a:prstGeom>
          <a:solidFill>
            <a:srgbClr val="E8F5EC"/>
          </a:solidFill>
          <a:ln w="12700">
            <a:solidFill>
              <a:srgbClr val="BFE3CA"/>
            </a:solidFill>
            <a:prstDash val="solid"/>
          </a:ln>
        </p:spPr>
      </p:sp>
      <p:sp>
        <p:nvSpPr>
          <p:cNvPr id="15" name="Text 12"/>
          <p:cNvSpPr txBox="1"/>
          <p:nvPr/>
        </p:nvSpPr>
        <p:spPr>
          <a:xfrm>
            <a:off x="4370832"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5</a:t>
            </a:r>
            <a:endParaRPr lang="en-US" sz="1400" dirty="0"/>
          </a:p>
        </p:txBody>
      </p:sp>
      <p:sp>
        <p:nvSpPr>
          <p:cNvPr id="16" name="Shape 13"/>
          <p:cNvSpPr/>
          <p:nvPr/>
        </p:nvSpPr>
        <p:spPr>
          <a:xfrm>
            <a:off x="5303520" y="2331720"/>
            <a:ext cx="841248" cy="566928"/>
          </a:xfrm>
          <a:prstGeom prst="roundRect">
            <a:avLst>
              <a:gd name="adj" fmla="val 6452"/>
            </a:avLst>
          </a:prstGeom>
          <a:solidFill>
            <a:srgbClr val="B42318"/>
          </a:solidFill>
          <a:ln w="12700">
            <a:solidFill>
              <a:srgbClr val="B42318"/>
            </a:solidFill>
            <a:prstDash val="solid"/>
          </a:ln>
        </p:spPr>
      </p:sp>
      <p:sp>
        <p:nvSpPr>
          <p:cNvPr id="17" name="Text 14"/>
          <p:cNvSpPr txBox="1"/>
          <p:nvPr/>
        </p:nvSpPr>
        <p:spPr>
          <a:xfrm>
            <a:off x="5303520" y="2478024"/>
            <a:ext cx="841248"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6</a:t>
            </a:r>
            <a:endParaRPr lang="en-US" sz="1400" dirty="0"/>
          </a:p>
        </p:txBody>
      </p:sp>
      <p:sp>
        <p:nvSpPr>
          <p:cNvPr id="18" name="Shape 15"/>
          <p:cNvSpPr/>
          <p:nvPr/>
        </p:nvSpPr>
        <p:spPr>
          <a:xfrm>
            <a:off x="6236208" y="2331720"/>
            <a:ext cx="841248" cy="566928"/>
          </a:xfrm>
          <a:prstGeom prst="roundRect">
            <a:avLst>
              <a:gd name="adj" fmla="val 6452"/>
            </a:avLst>
          </a:prstGeom>
          <a:solidFill>
            <a:srgbClr val="E8F5EC"/>
          </a:solidFill>
          <a:ln w="12700">
            <a:solidFill>
              <a:srgbClr val="BFE3CA"/>
            </a:solidFill>
            <a:prstDash val="solid"/>
          </a:ln>
        </p:spPr>
      </p:sp>
      <p:sp>
        <p:nvSpPr>
          <p:cNvPr id="19" name="Text 16"/>
          <p:cNvSpPr txBox="1"/>
          <p:nvPr/>
        </p:nvSpPr>
        <p:spPr>
          <a:xfrm>
            <a:off x="6236208"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7</a:t>
            </a:r>
            <a:endParaRPr lang="en-US" sz="1400" dirty="0"/>
          </a:p>
        </p:txBody>
      </p:sp>
      <p:sp>
        <p:nvSpPr>
          <p:cNvPr id="20" name="Shape 17"/>
          <p:cNvSpPr/>
          <p:nvPr/>
        </p:nvSpPr>
        <p:spPr>
          <a:xfrm>
            <a:off x="7168896" y="2331720"/>
            <a:ext cx="841248" cy="566928"/>
          </a:xfrm>
          <a:prstGeom prst="roundRect">
            <a:avLst>
              <a:gd name="adj" fmla="val 6452"/>
            </a:avLst>
          </a:prstGeom>
          <a:solidFill>
            <a:srgbClr val="E8F5EC"/>
          </a:solidFill>
          <a:ln w="12700">
            <a:solidFill>
              <a:srgbClr val="BFE3CA"/>
            </a:solidFill>
            <a:prstDash val="solid"/>
          </a:ln>
        </p:spPr>
      </p:sp>
      <p:sp>
        <p:nvSpPr>
          <p:cNvPr id="21" name="Text 18"/>
          <p:cNvSpPr txBox="1"/>
          <p:nvPr/>
        </p:nvSpPr>
        <p:spPr>
          <a:xfrm>
            <a:off x="7168896" y="2478024"/>
            <a:ext cx="841248" cy="274320"/>
          </a:xfrm>
          <a:prstGeom prst="rect">
            <a:avLst/>
          </a:prstGeom>
          <a:noFill/>
          <a:ln/>
        </p:spPr>
        <p:txBody>
          <a:bodyPr wrap="square" lIns="0" tIns="0" rIns="0" bIns="0" rtlCol="0" anchor="ctr"/>
          <a:lstStyle/>
          <a:p>
            <a:pPr algn="ctr" indent="0" marL="0">
              <a:buNone/>
            </a:pPr>
            <a:r>
              <a:rPr lang="en-US" sz="1400" b="1" dirty="0">
                <a:solidFill>
                  <a:srgbClr val="1A7F37"/>
                </a:solidFill>
                <a:latin typeface="Times New Roman" pitchFamily="34" charset="0"/>
                <a:ea typeface="Times New Roman" pitchFamily="34" charset="-122"/>
                <a:cs typeface="Times New Roman" pitchFamily="34" charset="-120"/>
              </a:rPr>
              <a:t>8</a:t>
            </a:r>
            <a:endParaRPr lang="en-US" sz="1400" dirty="0"/>
          </a:p>
        </p:txBody>
      </p:sp>
      <p:sp>
        <p:nvSpPr>
          <p:cNvPr id="22" name="Text 19"/>
          <p:cNvSpPr txBox="1"/>
          <p:nvPr/>
        </p:nvSpPr>
        <p:spPr>
          <a:xfrm>
            <a:off x="640080" y="3108960"/>
            <a:ext cx="7863840" cy="685800"/>
          </a:xfrm>
          <a:prstGeom prst="rect">
            <a:avLst/>
          </a:prstGeom>
          <a:noFill/>
          <a:ln/>
        </p:spPr>
        <p:txBody>
          <a:bodyPr wrap="square" lIns="0" tIns="0" rIns="0" bIns="0" rtlCol="0" anchor="t"/>
          <a:lstStyle/>
          <a:p>
            <a:pPr indent="0" marL="0">
              <a:lnSpc>
                <a:spcPct val="125000"/>
              </a:lnSpc>
              <a:buNone/>
            </a:pPr>
            <a:r>
              <a:rPr lang="en-US" sz="1400" dirty="0">
                <a:solidFill>
                  <a:srgbClr val="16160F"/>
                </a:solidFill>
                <a:latin typeface="Times New Roman" pitchFamily="34" charset="0"/>
                <a:ea typeface="Times New Roman" pitchFamily="34" charset="-122"/>
                <a:cs typeface="Times New Roman" pitchFamily="34" charset="-120"/>
              </a:rPr>
              <a:t>The file is hashed in 4MB pieces. Part 6 of 8 differs, so the change lies</a:t>
            </a:r>
            <a:endParaRPr lang="en-US" sz="1400" dirty="0"/>
          </a:p>
          <a:p>
            <a:pPr indent="0" marL="0">
              <a:lnSpc>
                <a:spcPct val="125000"/>
              </a:lnSpc>
              <a:buNone/>
            </a:pPr>
            <a:r>
              <a:rPr lang="en-US" sz="1400" dirty="0">
                <a:solidFill>
                  <a:srgbClr val="16160F"/>
                </a:solidFill>
                <a:latin typeface="Times New Roman" pitchFamily="34" charset="0"/>
                <a:ea typeface="Times New Roman" pitchFamily="34" charset="-122"/>
                <a:cs typeface="Times New Roman" pitchFamily="34" charset="-120"/>
              </a:rPr>
              <a:t>between byte 20,971,520 and byte 25,165,823.</a:t>
            </a:r>
            <a:endParaRPr lang="en-US" sz="1400" dirty="0"/>
          </a:p>
        </p:txBody>
      </p:sp>
      <p:sp>
        <p:nvSpPr>
          <p:cNvPr id="23" name="Text 20"/>
          <p:cNvSpPr txBox="1"/>
          <p:nvPr/>
        </p:nvSpPr>
        <p:spPr>
          <a:xfrm>
            <a:off x="640080" y="3886200"/>
            <a:ext cx="7863840" cy="777240"/>
          </a:xfrm>
          <a:prstGeom prst="rect">
            <a:avLst/>
          </a:prstGeom>
          <a:noFill/>
          <a:ln/>
        </p:spPr>
        <p:txBody>
          <a:bodyPr wrap="square" lIns="0" tIns="0" rIns="0" bIns="0" rtlCol="0" anchor="t"/>
          <a:lstStyle/>
          <a:p>
            <a:pPr indent="0" marL="0">
              <a:lnSpc>
                <a:spcPct val="125000"/>
              </a:lnSpc>
              <a:buNone/>
            </a:pPr>
            <a:r>
              <a:rPr lang="en-US" sz="1150" i="1" dirty="0">
                <a:solidFill>
                  <a:srgbClr val="6B6B60"/>
                </a:solidFill>
                <a:latin typeface="Times New Roman" pitchFamily="34" charset="0"/>
                <a:ea typeface="Times New Roman" pitchFamily="34" charset="-122"/>
                <a:cs typeface="Times New Roman" pitchFamily="34" charset="-120"/>
              </a:rPr>
              <a:t>Tested at 30MB and extrapolated. Memory use stays flat as the file grows, because the whole file is never held at once. That is what makes the claim reasonable, not the size of the test file.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9</a:t>
            </a:r>
            <a:endParaRPr lang="en-US" sz="1000" dirty="0"/>
          </a:p>
        </p:txBody>
      </p:sp>
      <p:sp>
        <p:nvSpPr>
          <p:cNvPr id="4" name="Text 1"/>
          <p:cNvSpPr txBox="1"/>
          <p:nvPr/>
        </p:nvSpPr>
        <p:spPr>
          <a:xfrm>
            <a:off x="0" y="1885950"/>
            <a:ext cx="9144000" cy="1371600"/>
          </a:xfrm>
          <a:prstGeom prst="rect">
            <a:avLst/>
          </a:prstGeom>
          <a:noFill/>
          <a:ln/>
        </p:spPr>
        <p:txBody>
          <a:bodyPr wrap="square" lIns="0" tIns="0" rIns="0" bIns="0" rtlCol="0" anchor="ctr"/>
          <a:lstStyle/>
          <a:p>
            <a:pPr algn="ctr" indent="0" marL="0">
              <a:buNone/>
            </a:pPr>
            <a:r>
              <a:rPr lang="en-US" sz="6000" b="1" dirty="0">
                <a:solidFill>
                  <a:srgbClr val="16160F"/>
                </a:solidFill>
                <a:latin typeface="Times New Roman" pitchFamily="34" charset="0"/>
                <a:ea typeface="Times New Roman" pitchFamily="34" charset="-122"/>
                <a:cs typeface="Times New Roman" pitchFamily="34" charset="-120"/>
              </a:rPr>
              <a:t>Demo</a:t>
            </a:r>
            <a:endParaRPr lang="en-US" sz="6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The deliverable</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10</a:t>
            </a:r>
            <a:endParaRPr lang="en-US" sz="1000" dirty="0"/>
          </a:p>
        </p:txBody>
      </p:sp>
      <p:sp>
        <p:nvSpPr>
          <p:cNvPr id="5" name="Text 2"/>
          <p:cNvSpPr txBox="1"/>
          <p:nvPr/>
        </p:nvSpPr>
        <p:spPr>
          <a:xfrm>
            <a:off x="640080" y="868680"/>
            <a:ext cx="7863840" cy="548640"/>
          </a:xfrm>
          <a:prstGeom prst="rect">
            <a:avLst/>
          </a:prstGeom>
          <a:noFill/>
          <a:ln/>
        </p:spPr>
        <p:txBody>
          <a:bodyPr wrap="square" lIns="0" tIns="0" rIns="0" bIns="0" rtlCol="0" anchor="t"/>
          <a:lstStyle/>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One page. No jargon. No hashes.</a:t>
            </a:r>
            <a:endParaRPr lang="en-US" sz="2700" dirty="0"/>
          </a:p>
        </p:txBody>
      </p:sp>
      <p:sp>
        <p:nvSpPr>
          <p:cNvPr id="6" name="Text 3"/>
          <p:cNvSpPr txBox="1"/>
          <p:nvPr/>
        </p:nvSpPr>
        <p:spPr>
          <a:xfrm>
            <a:off x="640080" y="1600200"/>
            <a:ext cx="7863840" cy="1371600"/>
          </a:xfrm>
          <a:prstGeom prst="rect">
            <a:avLst/>
          </a:prstGeom>
          <a:noFill/>
          <a:ln/>
        </p:spPr>
        <p:txBody>
          <a:bodyPr wrap="square" lIns="0" tIns="0" rIns="0" bIns="0" rtlCol="0" anchor="t"/>
          <a:lstStyle/>
          <a:p>
            <a:pPr indent="0" marL="0">
              <a:lnSpc>
                <a:spcPct val="125000"/>
              </a:lnSpc>
              <a:buNone/>
            </a:pPr>
            <a:r>
              <a:rPr lang="en-US" sz="1450" dirty="0">
                <a:solidFill>
                  <a:srgbClr val="16160F"/>
                </a:solidFill>
                <a:latin typeface="Times New Roman" pitchFamily="34" charset="0"/>
                <a:ea typeface="Times New Roman" pitchFamily="34" charset="-122"/>
                <a:cs typeface="Times New Roman" pitchFamily="34" charset="-120"/>
              </a:rPr>
              <a:t>Is it unchanged?  Yes.</a:t>
            </a:r>
            <a:endParaRPr lang="en-US" sz="1450" dirty="0"/>
          </a:p>
          <a:p>
            <a:pPr indent="0" marL="0">
              <a:lnSpc>
                <a:spcPct val="125000"/>
              </a:lnSpc>
              <a:buNone/>
            </a:pPr>
            <a:r>
              <a:rPr lang="en-US" sz="1450" dirty="0">
                <a:solidFill>
                  <a:srgbClr val="16160F"/>
                </a:solidFill>
                <a:latin typeface="Times New Roman" pitchFamily="34" charset="0"/>
                <a:ea typeface="Times New Roman" pitchFamily="34" charset="-122"/>
                <a:cs typeface="Times New Roman" pitchFamily="34" charset="-120"/>
              </a:rPr>
              <a:t>How do we know?  A fingerprint was taken at collection and checked again.</a:t>
            </a:r>
            <a:endParaRPr lang="en-US" sz="1450" dirty="0"/>
          </a:p>
          <a:p>
            <a:pPr indent="0" marL="0">
              <a:lnSpc>
                <a:spcPct val="125000"/>
              </a:lnSpc>
              <a:buNone/>
            </a:pPr>
            <a:r>
              <a:rPr lang="en-US" sz="1450" dirty="0">
                <a:solidFill>
                  <a:srgbClr val="16160F"/>
                </a:solidFill>
                <a:latin typeface="Times New Roman" pitchFamily="34" charset="0"/>
                <a:ea typeface="Times New Roman" pitchFamily="34" charset="-122"/>
                <a:cs typeface="Times New Roman" pitchFamily="34" charset="-120"/>
              </a:rPr>
              <a:t>Who has handled it?  Four people, named, with dates.</a:t>
            </a:r>
            <a:endParaRPr lang="en-US" sz="1450" dirty="0"/>
          </a:p>
          <a:p>
            <a:pPr indent="0" marL="0">
              <a:lnSpc>
                <a:spcPct val="125000"/>
              </a:lnSpc>
              <a:buNone/>
            </a:pPr>
            <a:r>
              <a:rPr lang="en-US" sz="1450" dirty="0">
                <a:solidFill>
                  <a:srgbClr val="16160F"/>
                </a:solidFill>
                <a:latin typeface="Times New Roman" pitchFamily="34" charset="0"/>
                <a:ea typeface="Times New Roman" pitchFamily="34" charset="-122"/>
                <a:cs typeface="Times New Roman" pitchFamily="34" charset="-120"/>
              </a:rPr>
              <a:t>Can this list have been edited?  No, and here is why.</a:t>
            </a:r>
            <a:endParaRPr lang="en-US" sz="1450" dirty="0"/>
          </a:p>
        </p:txBody>
      </p:sp>
      <p:sp>
        <p:nvSpPr>
          <p:cNvPr id="7" name="Text 4"/>
          <p:cNvSpPr txBox="1"/>
          <p:nvPr/>
        </p:nvSpPr>
        <p:spPr>
          <a:xfrm>
            <a:off x="640080" y="3063240"/>
            <a:ext cx="7863840" cy="640080"/>
          </a:xfrm>
          <a:prstGeom prst="rect">
            <a:avLst/>
          </a:prstGeom>
          <a:noFill/>
          <a:ln/>
        </p:spPr>
        <p:txBody>
          <a:bodyPr wrap="square" lIns="0" tIns="0" rIns="0" bIns="0" rtlCol="0" anchor="ctr"/>
          <a:lstStyle/>
          <a:p>
            <a:pPr indent="0" marL="0">
              <a:lnSpc>
                <a:spcPct val="125000"/>
              </a:lnSpc>
              <a:buNone/>
            </a:pPr>
            <a:r>
              <a:rPr lang="en-US" sz="1450" i="1" dirty="0">
                <a:solidFill>
                  <a:srgbClr val="16160F"/>
                </a:solidFill>
                <a:latin typeface="Times New Roman" pitchFamily="34" charset="0"/>
                <a:ea typeface="Times New Roman" pitchFamily="34" charset="-122"/>
                <a:cs typeface="Times New Roman" pitchFamily="34" charset="-120"/>
              </a:rPr>
              <a:t>"A process that is technically perfect but cannot be explained in a hearing</a:t>
            </a:r>
            <a:endParaRPr lang="en-US" sz="1450" dirty="0"/>
          </a:p>
          <a:p>
            <a:pPr indent="0" marL="0">
              <a:lnSpc>
                <a:spcPct val="125000"/>
              </a:lnSpc>
              <a:buNone/>
            </a:pPr>
            <a:r>
              <a:rPr lang="en-US" sz="1450" i="1" dirty="0">
                <a:solidFill>
                  <a:srgbClr val="16160F"/>
                </a:solidFill>
                <a:latin typeface="Times New Roman" pitchFamily="34" charset="0"/>
                <a:ea typeface="Times New Roman" pitchFamily="34" charset="-122"/>
                <a:cs typeface="Times New Roman" pitchFamily="34" charset="-120"/>
              </a:rPr>
              <a:t>has not solved the problem."</a:t>
            </a:r>
            <a:endParaRPr lang="en-US" sz="1450" dirty="0"/>
          </a:p>
        </p:txBody>
      </p:sp>
      <p:sp>
        <p:nvSpPr>
          <p:cNvPr id="8" name="Text 5"/>
          <p:cNvSpPr txBox="1"/>
          <p:nvPr/>
        </p:nvSpPr>
        <p:spPr>
          <a:xfrm>
            <a:off x="640080" y="3675888"/>
            <a:ext cx="7863840" cy="274320"/>
          </a:xfrm>
          <a:prstGeom prst="rect">
            <a:avLst/>
          </a:prstGeom>
          <a:noFill/>
          <a:ln/>
        </p:spPr>
        <p:txBody>
          <a:bodyPr wrap="square" lIns="0" tIns="0" rIns="0" bIns="0" rtlCol="0" anchor="ctr"/>
          <a:lstStyle/>
          <a:p>
            <a:pPr indent="0" marL="0">
              <a:buNone/>
            </a:pPr>
            <a:r>
              <a:rPr lang="en-US" sz="1100" dirty="0">
                <a:solidFill>
                  <a:srgbClr val="6B6B60"/>
                </a:solidFill>
                <a:latin typeface="Times New Roman" pitchFamily="34" charset="0"/>
                <a:ea typeface="Times New Roman" pitchFamily="34" charset="-122"/>
                <a:cs typeface="Times New Roman" pitchFamily="34" charset="-120"/>
              </a:rPr>
              <a:t>the brief</a:t>
            </a:r>
            <a:endParaRPr lang="en-US" sz="1100" dirty="0"/>
          </a:p>
        </p:txBody>
      </p:sp>
      <p:sp>
        <p:nvSpPr>
          <p:cNvPr id="9" name="Text 6"/>
          <p:cNvSpPr txBox="1"/>
          <p:nvPr/>
        </p:nvSpPr>
        <p:spPr>
          <a:xfrm>
            <a:off x="640080" y="4114800"/>
            <a:ext cx="7863840" cy="731520"/>
          </a:xfrm>
          <a:prstGeom prst="rect">
            <a:avLst/>
          </a:prstGeom>
          <a:noFill/>
          <a:ln/>
        </p:spPr>
        <p:txBody>
          <a:bodyPr wrap="square" lIns="0" tIns="0" rIns="0" bIns="0" rtlCol="0" anchor="t"/>
          <a:lstStyle/>
          <a:p>
            <a:pPr indent="0" marL="0">
              <a:lnSpc>
                <a:spcPct val="125000"/>
              </a:lnSpc>
              <a:buNone/>
            </a:pPr>
            <a:r>
              <a:rPr lang="en-US" sz="1100" i="1" dirty="0">
                <a:solidFill>
                  <a:srgbClr val="6B6B60"/>
                </a:solidFill>
                <a:latin typeface="Times New Roman" pitchFamily="34" charset="0"/>
                <a:ea typeface="Times New Roman" pitchFamily="34" charset="-122"/>
                <a:cs typeface="Times New Roman" pitchFamily="34" charset="-120"/>
              </a:rPr>
              <a:t>[Replace with a photograph of the printed report in someone's hands.]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We tested it on people</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11</a:t>
            </a:r>
            <a:endParaRPr lang="en-US" sz="1000" dirty="0"/>
          </a:p>
        </p:txBody>
      </p:sp>
      <p:sp>
        <p:nvSpPr>
          <p:cNvPr id="5" name="Text 2"/>
          <p:cNvSpPr txBox="1"/>
          <p:nvPr/>
        </p:nvSpPr>
        <p:spPr>
          <a:xfrm>
            <a:off x="640080" y="960120"/>
            <a:ext cx="7863840" cy="1143000"/>
          </a:xfrm>
          <a:prstGeom prst="rect">
            <a:avLst/>
          </a:prstGeom>
          <a:noFill/>
          <a:ln/>
        </p:spPr>
        <p:txBody>
          <a:bodyPr wrap="square" lIns="0" tIns="0" rIns="0" bIns="0" rtlCol="0" anchor="t"/>
          <a:lstStyle/>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We gave the report to someone</a:t>
            </a:r>
            <a:endParaRPr lang="en-US" sz="2700" dirty="0"/>
          </a:p>
          <a:p>
            <a:pPr indent="0" marL="0">
              <a:lnSpc>
                <a:spcPct val="112000"/>
              </a:lnSpc>
              <a:buNone/>
            </a:pPr>
            <a:r>
              <a:rPr lang="en-US" sz="2700" b="1" dirty="0">
                <a:solidFill>
                  <a:srgbClr val="16160F"/>
                </a:solidFill>
                <a:latin typeface="Times New Roman" pitchFamily="34" charset="0"/>
                <a:ea typeface="Times New Roman" pitchFamily="34" charset="-122"/>
                <a:cs typeface="Times New Roman" pitchFamily="34" charset="-120"/>
              </a:rPr>
              <a:t>outside computer science.</a:t>
            </a:r>
            <a:endParaRPr lang="en-US" sz="2700" dirty="0"/>
          </a:p>
        </p:txBody>
      </p:sp>
      <p:sp>
        <p:nvSpPr>
          <p:cNvPr id="6" name="Text 3"/>
          <p:cNvSpPr txBox="1"/>
          <p:nvPr/>
        </p:nvSpPr>
        <p:spPr>
          <a:xfrm>
            <a:off x="640080" y="2331720"/>
            <a:ext cx="7863840" cy="365760"/>
          </a:xfrm>
          <a:prstGeom prst="rect">
            <a:avLst/>
          </a:prstGeom>
          <a:noFill/>
          <a:ln/>
        </p:spPr>
        <p:txBody>
          <a:bodyPr wrap="square" lIns="0" tIns="0" rIns="0" bIns="0" rtlCol="0" anchor="t"/>
          <a:lstStyle/>
          <a:p>
            <a:pPr indent="0" marL="0">
              <a:lnSpc>
                <a:spcPct val="125000"/>
              </a:lnSpc>
              <a:buNone/>
            </a:pPr>
            <a:r>
              <a:rPr lang="en-US" sz="1600" dirty="0">
                <a:solidFill>
                  <a:srgbClr val="6B6B60"/>
                </a:solidFill>
                <a:latin typeface="Times New Roman" pitchFamily="34" charset="0"/>
                <a:ea typeface="Times New Roman" pitchFamily="34" charset="-122"/>
                <a:cs typeface="Times New Roman" pitchFamily="34" charset="-120"/>
              </a:rPr>
              <a:t>[What confused them.]</a:t>
            </a:r>
            <a:endParaRPr lang="en-US" sz="1600" dirty="0"/>
          </a:p>
        </p:txBody>
      </p:sp>
      <p:sp>
        <p:nvSpPr>
          <p:cNvPr id="7" name="Text 4"/>
          <p:cNvSpPr txBox="1"/>
          <p:nvPr/>
        </p:nvSpPr>
        <p:spPr>
          <a:xfrm>
            <a:off x="640080" y="2743200"/>
            <a:ext cx="7863840" cy="365760"/>
          </a:xfrm>
          <a:prstGeom prst="rect">
            <a:avLst/>
          </a:prstGeom>
          <a:noFill/>
          <a:ln/>
        </p:spPr>
        <p:txBody>
          <a:bodyPr wrap="square" lIns="0" tIns="0" rIns="0" bIns="0" rtlCol="0" anchor="t"/>
          <a:lstStyle/>
          <a:p>
            <a:pPr indent="0" marL="0">
              <a:lnSpc>
                <a:spcPct val="125000"/>
              </a:lnSpc>
              <a:buNone/>
            </a:pPr>
            <a:r>
              <a:rPr lang="en-US" sz="1600" dirty="0">
                <a:solidFill>
                  <a:srgbClr val="6B6B60"/>
                </a:solidFill>
                <a:latin typeface="Times New Roman" pitchFamily="34" charset="0"/>
                <a:ea typeface="Times New Roman" pitchFamily="34" charset="-122"/>
                <a:cs typeface="Times New Roman" pitchFamily="34" charset="-120"/>
              </a:rPr>
              <a:t>[What we changed as a result.]</a:t>
            </a:r>
            <a:endParaRPr lang="en-US" sz="1600" dirty="0"/>
          </a:p>
        </p:txBody>
      </p:sp>
      <p:sp>
        <p:nvSpPr>
          <p:cNvPr id="8" name="Text 5"/>
          <p:cNvSpPr txBox="1"/>
          <p:nvPr/>
        </p:nvSpPr>
        <p:spPr>
          <a:xfrm>
            <a:off x="640080" y="3474720"/>
            <a:ext cx="7863840" cy="731520"/>
          </a:xfrm>
          <a:prstGeom prst="rect">
            <a:avLst/>
          </a:prstGeom>
          <a:noFill/>
          <a:ln/>
        </p:spPr>
        <p:txBody>
          <a:bodyPr wrap="square" lIns="0" tIns="0" rIns="0" bIns="0" rtlCol="0" anchor="t"/>
          <a:lstStyle/>
          <a:p>
            <a:pPr indent="0" marL="0">
              <a:lnSpc>
                <a:spcPct val="125000"/>
              </a:lnSpc>
              <a:buNone/>
            </a:pPr>
            <a:r>
              <a:rPr lang="en-US" sz="1200" i="1" dirty="0">
                <a:solidFill>
                  <a:srgbClr val="6B6B60"/>
                </a:solidFill>
                <a:latin typeface="Times New Roman" pitchFamily="34" charset="0"/>
                <a:ea typeface="Times New Roman" pitchFamily="34" charset="-122"/>
                <a:cs typeface="Times New Roman" pitchFamily="34" charset="-120"/>
              </a:rPr>
              <a:t>Complete this with the real result before presenting. An accurate account of what a reader did not understand is the only version worth reporting.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What we did not solve</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12</a:t>
            </a:r>
            <a:endParaRPr lang="en-US" sz="1000" dirty="0"/>
          </a:p>
        </p:txBody>
      </p:sp>
      <p:sp>
        <p:nvSpPr>
          <p:cNvPr id="5" name="Text 2"/>
          <p:cNvSpPr txBox="1"/>
          <p:nvPr/>
        </p:nvSpPr>
        <p:spPr>
          <a:xfrm>
            <a:off x="640080" y="749808"/>
            <a:ext cx="7863840" cy="502920"/>
          </a:xfrm>
          <a:prstGeom prst="rect">
            <a:avLst/>
          </a:prstGeom>
          <a:noFill/>
          <a:ln/>
        </p:spPr>
        <p:txBody>
          <a:bodyPr wrap="square" lIns="0" tIns="0" rIns="0" bIns="0" rtlCol="0" anchor="t"/>
          <a:lstStyle/>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Honest limits</a:t>
            </a:r>
            <a:endParaRPr lang="en-US" sz="2800" dirty="0"/>
          </a:p>
        </p:txBody>
      </p:sp>
      <p:sp>
        <p:nvSpPr>
          <p:cNvPr id="6" name="Text 3"/>
          <p:cNvSpPr txBox="1"/>
          <p:nvPr/>
        </p:nvSpPr>
        <p:spPr>
          <a:xfrm>
            <a:off x="640080" y="1481328"/>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A corrupt collector</a:t>
            </a:r>
            <a:endParaRPr lang="en-US" sz="1400" dirty="0"/>
          </a:p>
        </p:txBody>
      </p:sp>
      <p:sp>
        <p:nvSpPr>
          <p:cNvPr id="7" name="Text 4"/>
          <p:cNvSpPr txBox="1"/>
          <p:nvPr/>
        </p:nvSpPr>
        <p:spPr>
          <a:xfrm>
            <a:off x="3017520" y="1508760"/>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the chain is protected from collection onward, not before it</a:t>
            </a:r>
            <a:endParaRPr lang="en-US" sz="1200" dirty="0"/>
          </a:p>
        </p:txBody>
      </p:sp>
      <p:sp>
        <p:nvSpPr>
          <p:cNvPr id="8" name="Text 5"/>
          <p:cNvSpPr txBox="1"/>
          <p:nvPr/>
        </p:nvSpPr>
        <p:spPr>
          <a:xfrm>
            <a:off x="640080" y="1965960"/>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The device clock</a:t>
            </a:r>
            <a:endParaRPr lang="en-US" sz="1400" dirty="0"/>
          </a:p>
        </p:txBody>
      </p:sp>
      <p:sp>
        <p:nvSpPr>
          <p:cNvPr id="9" name="Text 6"/>
          <p:cNvSpPr txBox="1"/>
          <p:nvPr/>
        </p:nvSpPr>
        <p:spPr>
          <a:xfrm>
            <a:off x="3017520" y="1993392"/>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both clocks are shown, the phone's is not vouched for</a:t>
            </a:r>
            <a:endParaRPr lang="en-US" sz="1200" dirty="0"/>
          </a:p>
        </p:txBody>
      </p:sp>
      <p:sp>
        <p:nvSpPr>
          <p:cNvPr id="10" name="Text 7"/>
          <p:cNvSpPr txBox="1"/>
          <p:nvPr/>
        </p:nvSpPr>
        <p:spPr>
          <a:xfrm>
            <a:off x="640080" y="2450592"/>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Scale</a:t>
            </a:r>
            <a:endParaRPr lang="en-US" sz="1400" dirty="0"/>
          </a:p>
        </p:txBody>
      </p:sp>
      <p:sp>
        <p:nvSpPr>
          <p:cNvPr id="11" name="Text 8"/>
          <p:cNvSpPr txBox="1"/>
          <p:nvPr/>
        </p:nvSpPr>
        <p:spPr>
          <a:xfrm>
            <a:off x="3017520" y="2478024"/>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tested at 30MB, extrapolated, not a real 100GB extraction</a:t>
            </a:r>
            <a:endParaRPr lang="en-US" sz="1200" dirty="0"/>
          </a:p>
        </p:txBody>
      </p:sp>
      <p:sp>
        <p:nvSpPr>
          <p:cNvPr id="12" name="Text 9"/>
          <p:cNvSpPr txBox="1"/>
          <p:nvPr/>
        </p:nvSpPr>
        <p:spPr>
          <a:xfrm>
            <a:off x="640080" y="2935224"/>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Per officer signing</a:t>
            </a:r>
            <a:endParaRPr lang="en-US" sz="1400" dirty="0"/>
          </a:p>
        </p:txBody>
      </p:sp>
      <p:sp>
        <p:nvSpPr>
          <p:cNvPr id="13" name="Text 10"/>
          <p:cNvSpPr txBox="1"/>
          <p:nvPr/>
        </p:nvSpPr>
        <p:spPr>
          <a:xfrm>
            <a:off x="3017520" y="2962656"/>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events are tied to a login, not to a person's key</a:t>
            </a:r>
            <a:endParaRPr lang="en-US" sz="1200" dirty="0"/>
          </a:p>
        </p:txBody>
      </p:sp>
      <p:sp>
        <p:nvSpPr>
          <p:cNvPr id="14" name="Text 11"/>
          <p:cNvSpPr txBox="1"/>
          <p:nvPr/>
        </p:nvSpPr>
        <p:spPr>
          <a:xfrm>
            <a:off x="640080" y="3419856"/>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Storage</a:t>
            </a:r>
            <a:endParaRPr lang="en-US" sz="1400" dirty="0"/>
          </a:p>
        </p:txBody>
      </p:sp>
      <p:sp>
        <p:nvSpPr>
          <p:cNvPr id="15" name="Text 12"/>
          <p:cNvSpPr txBox="1"/>
          <p:nvPr/>
        </p:nvSpPr>
        <p:spPr>
          <a:xfrm>
            <a:off x="3017520" y="3447288"/>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change is proven, deletion is not prevented</a:t>
            </a:r>
            <a:endParaRPr lang="en-US" sz="1200" dirty="0"/>
          </a:p>
        </p:txBody>
      </p:sp>
      <p:sp>
        <p:nvSpPr>
          <p:cNvPr id="16" name="Text 13"/>
          <p:cNvSpPr txBox="1"/>
          <p:nvPr/>
        </p:nvSpPr>
        <p:spPr>
          <a:xfrm>
            <a:off x="640080" y="3904488"/>
            <a:ext cx="2286000" cy="320040"/>
          </a:xfrm>
          <a:prstGeom prst="rect">
            <a:avLst/>
          </a:prstGeom>
          <a:noFill/>
          <a:ln/>
        </p:spPr>
        <p:txBody>
          <a:bodyPr wrap="square" lIns="0" tIns="0" rIns="0" bIns="0" rtlCol="0" anchor="ctr"/>
          <a:lstStyle/>
          <a:p>
            <a:pPr indent="0" marL="0">
              <a:buNone/>
            </a:pPr>
            <a:r>
              <a:rPr lang="en-US" sz="1400" b="1" dirty="0">
                <a:solidFill>
                  <a:srgbClr val="16160F"/>
                </a:solidFill>
                <a:latin typeface="Times New Roman" pitchFamily="34" charset="0"/>
                <a:ea typeface="Times New Roman" pitchFamily="34" charset="-122"/>
                <a:cs typeface="Times New Roman" pitchFamily="34" charset="-120"/>
              </a:rPr>
              <a:t>Bulk compromise</a:t>
            </a:r>
            <a:endParaRPr lang="en-US" sz="1400" dirty="0"/>
          </a:p>
        </p:txBody>
      </p:sp>
      <p:sp>
        <p:nvSpPr>
          <p:cNvPr id="17" name="Text 14"/>
          <p:cNvSpPr txBox="1"/>
          <p:nvPr/>
        </p:nvSpPr>
        <p:spPr>
          <a:xfrm>
            <a:off x="3017520" y="3931920"/>
            <a:ext cx="5486400" cy="320040"/>
          </a:xfrm>
          <a:prstGeom prst="rect">
            <a:avLst/>
          </a:prstGeom>
          <a:noFill/>
          <a:ln/>
        </p:spPr>
        <p:txBody>
          <a:bodyPr wrap="square" lIns="0" tIns="0" rIns="0" bIns="0" rtlCol="0" anchor="ctr"/>
          <a:lstStyle/>
          <a:p>
            <a:pPr indent="0" marL="0">
              <a:buNone/>
            </a:pPr>
            <a:r>
              <a:rPr lang="en-US" sz="1200" dirty="0">
                <a:solidFill>
                  <a:srgbClr val="6B6B60"/>
                </a:solidFill>
                <a:latin typeface="Times New Roman" pitchFamily="34" charset="0"/>
                <a:ea typeface="Times New Roman" pitchFamily="34" charset="-122"/>
                <a:cs typeface="Times New Roman" pitchFamily="34" charset="-120"/>
              </a:rPr>
              <a:t>full server access could rebuild the whole chain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txBox="1"/>
          <p:nvPr/>
        </p:nvSpPr>
        <p:spPr>
          <a:xfrm>
            <a:off x="640080" y="310896"/>
            <a:ext cx="7863840" cy="274320"/>
          </a:xfrm>
          <a:prstGeom prst="rect">
            <a:avLst/>
          </a:prstGeom>
          <a:noFill/>
          <a:ln/>
        </p:spPr>
        <p:txBody>
          <a:bodyPr wrap="square" lIns="0" tIns="0" rIns="0" bIns="0" rtlCol="0" anchor="ctr"/>
          <a:lstStyle/>
          <a:p>
            <a:pPr indent="0" marL="0">
              <a:buNone/>
            </a:pPr>
            <a:r>
              <a:rPr lang="en-US" sz="1200" spc="100" kern="0" dirty="0">
                <a:solidFill>
                  <a:srgbClr val="6B6B60"/>
                </a:solidFill>
                <a:latin typeface="Times New Roman" pitchFamily="34" charset="0"/>
                <a:ea typeface="Times New Roman" pitchFamily="34" charset="-122"/>
                <a:cs typeface="Times New Roman" pitchFamily="34" charset="-120"/>
              </a:rPr>
              <a:t>If asked</a:t>
            </a:r>
            <a:endParaRPr lang="en-US" sz="1200" dirty="0"/>
          </a:p>
        </p:txBody>
      </p:sp>
      <p:sp>
        <p:nvSpPr>
          <p:cNvPr id="3" name="Text 1"/>
          <p:cNvSpPr txBox="1"/>
          <p:nvPr/>
        </p:nvSpPr>
        <p:spPr>
          <a:xfrm>
            <a:off x="8138160" y="4576572"/>
            <a:ext cx="365760" cy="256032"/>
          </a:xfrm>
          <a:prstGeom prst="rect">
            <a:avLst/>
          </a:prstGeom>
          <a:noFill/>
          <a:ln/>
        </p:spPr>
        <p:txBody>
          <a:bodyPr wrap="square" lIns="0" tIns="0" rIns="0" bIns="0" rtlCol="0" anchor="ctr"/>
          <a:lstStyle/>
          <a:p>
            <a:pPr algn="r" indent="0" marL="0">
              <a:buNone/>
            </a:pPr>
            <a:r>
              <a:rPr lang="en-US" sz="1000" dirty="0">
                <a:solidFill>
                  <a:srgbClr val="C9C9BF"/>
                </a:solidFill>
                <a:latin typeface="Times New Roman" pitchFamily="34" charset="0"/>
                <a:ea typeface="Times New Roman" pitchFamily="34" charset="-122"/>
                <a:cs typeface="Times New Roman" pitchFamily="34" charset="-120"/>
              </a:rPr>
              <a:t>13</a:t>
            </a:r>
            <a:endParaRPr lang="en-US" sz="1000" dirty="0"/>
          </a:p>
        </p:txBody>
      </p:sp>
      <p:sp>
        <p:nvSpPr>
          <p:cNvPr id="5" name="Text 2"/>
          <p:cNvSpPr txBox="1"/>
          <p:nvPr/>
        </p:nvSpPr>
        <p:spPr>
          <a:xfrm>
            <a:off x="640080" y="1051560"/>
            <a:ext cx="7863840" cy="548640"/>
          </a:xfrm>
          <a:prstGeom prst="rect">
            <a:avLst/>
          </a:prstGeom>
          <a:noFill/>
          <a:ln/>
        </p:spPr>
        <p:txBody>
          <a:bodyPr wrap="square" lIns="0" tIns="0" rIns="0" bIns="0" rtlCol="0" anchor="t"/>
          <a:lstStyle/>
          <a:p>
            <a:pPr indent="0" marL="0">
              <a:lnSpc>
                <a:spcPct val="112000"/>
              </a:lnSpc>
              <a:buNone/>
            </a:pPr>
            <a:r>
              <a:rPr lang="en-US" sz="2800" b="1" dirty="0">
                <a:solidFill>
                  <a:srgbClr val="16160F"/>
                </a:solidFill>
                <a:latin typeface="Times New Roman" pitchFamily="34" charset="0"/>
                <a:ea typeface="Times New Roman" pitchFamily="34" charset="-122"/>
                <a:cs typeface="Times New Roman" pitchFamily="34" charset="-120"/>
              </a:rPr>
              <a:t>Why not a blockchain?</a:t>
            </a:r>
            <a:endParaRPr lang="en-US" sz="2800" dirty="0"/>
          </a:p>
        </p:txBody>
      </p:sp>
      <p:sp>
        <p:nvSpPr>
          <p:cNvPr id="6" name="Text 3"/>
          <p:cNvSpPr txBox="1"/>
          <p:nvPr/>
        </p:nvSpPr>
        <p:spPr>
          <a:xfrm>
            <a:off x="640080" y="1965960"/>
            <a:ext cx="7863840" cy="731520"/>
          </a:xfrm>
          <a:prstGeom prst="rect">
            <a:avLst/>
          </a:prstGeom>
          <a:noFill/>
          <a:ln/>
        </p:spPr>
        <p:txBody>
          <a:bodyPr wrap="square" lIns="0" tIns="0" rIns="0" bIns="0" rtlCol="0" anchor="t"/>
          <a:lstStyle/>
          <a:p>
            <a:pPr indent="0" marL="0">
              <a:lnSpc>
                <a:spcPct val="125000"/>
              </a:lnSpc>
              <a:buNone/>
            </a:pPr>
            <a:r>
              <a:rPr lang="en-US" sz="1600" dirty="0">
                <a:solidFill>
                  <a:srgbClr val="16160F"/>
                </a:solidFill>
                <a:latin typeface="Times New Roman" pitchFamily="34" charset="0"/>
                <a:ea typeface="Times New Roman" pitchFamily="34" charset="-122"/>
                <a:cs typeface="Times New Roman" pitchFamily="34" charset="-120"/>
              </a:rPr>
              <a:t>A blockchain solves distrust between parties with no shared authority.</a:t>
            </a:r>
            <a:endParaRPr lang="en-US" sz="1600" dirty="0"/>
          </a:p>
          <a:p>
            <a:pPr indent="0" marL="0">
              <a:lnSpc>
                <a:spcPct val="125000"/>
              </a:lnSpc>
              <a:buNone/>
            </a:pPr>
            <a:r>
              <a:rPr lang="en-US" sz="1600" dirty="0">
                <a:solidFill>
                  <a:srgbClr val="16160F"/>
                </a:solidFill>
                <a:latin typeface="Times New Roman" pitchFamily="34" charset="0"/>
                <a:ea typeface="Times New Roman" pitchFamily="34" charset="-122"/>
                <a:cs typeface="Times New Roman" pitchFamily="34" charset="-120"/>
              </a:rPr>
              <a:t>A court has one.</a:t>
            </a:r>
            <a:endParaRPr lang="en-US" sz="1600" dirty="0"/>
          </a:p>
        </p:txBody>
      </p:sp>
      <p:sp>
        <p:nvSpPr>
          <p:cNvPr id="7" name="Text 4"/>
          <p:cNvSpPr txBox="1"/>
          <p:nvPr/>
        </p:nvSpPr>
        <p:spPr>
          <a:xfrm>
            <a:off x="640080" y="2834640"/>
            <a:ext cx="7863840" cy="1005840"/>
          </a:xfrm>
          <a:prstGeom prst="rect">
            <a:avLst/>
          </a:prstGeom>
          <a:noFill/>
          <a:ln/>
        </p:spPr>
        <p:txBody>
          <a:bodyPr wrap="square" lIns="0" tIns="0" rIns="0" bIns="0" rtlCol="0" anchor="t"/>
          <a:lstStyle/>
          <a:p>
            <a:pPr indent="0" marL="0">
              <a:lnSpc>
                <a:spcPct val="125000"/>
              </a:lnSpc>
              <a:buNone/>
            </a:pPr>
            <a:r>
              <a:rPr lang="en-US" sz="1600" dirty="0">
                <a:solidFill>
                  <a:srgbClr val="16160F"/>
                </a:solidFill>
                <a:latin typeface="Times New Roman" pitchFamily="34" charset="0"/>
                <a:ea typeface="Times New Roman" pitchFamily="34" charset="-122"/>
                <a:cs typeface="Times New Roman" pitchFamily="34" charset="-120"/>
              </a:rPr>
              <a:t>A hash chain, append only storage, and periodically published root hashes</a:t>
            </a:r>
            <a:endParaRPr lang="en-US" sz="1600" dirty="0"/>
          </a:p>
          <a:p>
            <a:pPr indent="0" marL="0">
              <a:lnSpc>
                <a:spcPct val="125000"/>
              </a:lnSpc>
              <a:buNone/>
            </a:pPr>
            <a:r>
              <a:rPr lang="en-US" sz="1600" dirty="0">
                <a:solidFill>
                  <a:srgbClr val="16160F"/>
                </a:solidFill>
                <a:latin typeface="Times New Roman" pitchFamily="34" charset="0"/>
                <a:ea typeface="Times New Roman" pitchFamily="34" charset="-122"/>
                <a:cs typeface="Times New Roman" pitchFamily="34" charset="-120"/>
              </a:rPr>
              <a:t>give the same tamper evidence at a fraction of the complexity, and can be</a:t>
            </a:r>
            <a:endParaRPr lang="en-US" sz="1600" dirty="0"/>
          </a:p>
          <a:p>
            <a:pPr indent="0" marL="0">
              <a:lnSpc>
                <a:spcPct val="125000"/>
              </a:lnSpc>
              <a:buNone/>
            </a:pPr>
            <a:r>
              <a:rPr lang="en-US" sz="1600" dirty="0">
                <a:solidFill>
                  <a:srgbClr val="16160F"/>
                </a:solidFill>
                <a:latin typeface="Times New Roman" pitchFamily="34" charset="0"/>
                <a:ea typeface="Times New Roman" pitchFamily="34" charset="-122"/>
                <a:cs typeface="Times New Roman" pitchFamily="34" charset="-120"/>
              </a:rPr>
              <a:t>explained to a panel member in a single sentence.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Custody: proving digital evidence has not been changed</dc:title>
  <dc:subject>PptxGenJS Presentation</dc:subject>
  <dc:creator>Custody</dc:creator>
  <cp:lastModifiedBy>Custody</cp:lastModifiedBy>
  <cp:revision>1</cp:revision>
  <dcterms:created xsi:type="dcterms:W3CDTF">2026-09-20T00:37:14Z</dcterms:created>
  <dcterms:modified xsi:type="dcterms:W3CDTF">2026-09-20T00:37:14Z</dcterms:modified>
</cp:coreProperties>
</file>